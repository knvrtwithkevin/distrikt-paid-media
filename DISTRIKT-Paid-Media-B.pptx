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710"/>
        </a:solidFill>
      </p:bgPr>
    </p:bg>
    <p:spTree>
      <p:nvGrpSpPr>
        <p:cNvPr id="1" name=""/>
        <p:cNvGrpSpPr/>
        <p:nvPr/>
      </p:nvGrpSpPr>
      <p:grpSpPr>
        <a:xfrm>
          <a:off x="0" y="0"/>
          <a:ext cx="0" cy="0"/>
          <a:chOff x="0" y="0"/>
          <a:chExt cx="0" cy="0"/>
        </a:xfrm>
      </p:grpSpPr>
      <p:sp>
        <p:nvSpPr>
          <p:cNvPr id="2" name="Shape 0"/>
          <p:cNvSpPr/>
          <p:nvPr/>
        </p:nvSpPr>
        <p:spPr>
          <a:xfrm>
            <a:off x="2926080" y="-2194560"/>
            <a:ext cx="6400800" cy="3840480"/>
          </a:xfrm>
          <a:prstGeom prst="ellipse">
            <a:avLst/>
          </a:prstGeom>
          <a:solidFill>
            <a:srgbClr val="7B3BE9">
              <a:alpha val="14000"/>
            </a:srgbClr>
          </a:solidFill>
          <a:ln/>
        </p:spPr>
      </p:sp>
      <p:pic>
        <p:nvPicPr>
          <p:cNvPr id="3" name="Image 0" descr="C:/Users/13025/AppData/Local/Temp/claude/C--Users-13025-OneDrive-Desktop-Claude-Code/6df39e99-516b-46de-9b62-34ab7512c5e8/scratchpad/deck_assets/p01_Image8.png">    </p:cNvPr>
          <p:cNvPicPr>
            <a:picLocks noChangeAspect="1"/>
          </p:cNvPicPr>
          <p:nvPr/>
        </p:nvPicPr>
        <p:blipFill>
          <a:blip r:embed="rId1"/>
          <a:srcRect l="0" r="0" t="0" b="0"/>
          <a:stretch/>
        </p:blipFill>
        <p:spPr>
          <a:xfrm>
            <a:off x="640080" y="502920"/>
            <a:ext cx="2011680" cy="356616"/>
          </a:xfrm>
          <a:prstGeom prst="rect">
            <a:avLst/>
          </a:prstGeom>
        </p:spPr>
      </p:pic>
      <p:sp>
        <p:nvSpPr>
          <p:cNvPr id="4" name="Text 1"/>
          <p:cNvSpPr/>
          <p:nvPr/>
        </p:nvSpPr>
        <p:spPr>
          <a:xfrm>
            <a:off x="640080" y="1051560"/>
            <a:ext cx="7315200" cy="365760"/>
          </a:xfrm>
          <a:prstGeom prst="rect">
            <a:avLst/>
          </a:prstGeom>
          <a:noFill/>
          <a:ln/>
        </p:spPr>
        <p:txBody>
          <a:bodyPr wrap="square" lIns="0" tIns="0" rIns="0" bIns="0" rtlCol="0" anchor="ctr"/>
          <a:lstStyle/>
          <a:p>
            <a:pPr indent="0" marL="0">
              <a:buNone/>
            </a:pPr>
            <a:r>
              <a:rPr lang="en-US" sz="1500" b="1" i="1" dirty="0">
                <a:solidFill>
                  <a:srgbClr val="FFFFFF"/>
                </a:solidFill>
                <a:latin typeface="Poppins" pitchFamily="34" charset="0"/>
                <a:ea typeface="Poppins" pitchFamily="34" charset="-122"/>
                <a:cs typeface="Poppins" pitchFamily="34" charset="-120"/>
              </a:rPr>
              <a:t>Data</a:t>
            </a:r>
            <a:pPr indent="0" marL="0">
              <a:buNone/>
            </a:pPr>
            <a:r>
              <a:rPr lang="en-US" sz="1500" b="1" i="1" dirty="0">
                <a:solidFill>
                  <a:srgbClr val="9D8CF0"/>
                </a:solidFill>
                <a:latin typeface="Poppins" pitchFamily="34" charset="0"/>
                <a:ea typeface="Poppins" pitchFamily="34" charset="-122"/>
                <a:cs typeface="Poppins" pitchFamily="34" charset="-120"/>
              </a:rPr>
              <a:t>.</a:t>
            </a:r>
            <a:pPr indent="0" marL="0">
              <a:buNone/>
            </a:pPr>
            <a:r>
              <a:rPr lang="en-US" sz="1500" b="1" i="1" dirty="0">
                <a:solidFill>
                  <a:srgbClr val="FFFFFF"/>
                </a:solidFill>
                <a:latin typeface="Poppins" pitchFamily="34" charset="0"/>
                <a:ea typeface="Poppins" pitchFamily="34" charset="-122"/>
                <a:cs typeface="Poppins" pitchFamily="34" charset="-120"/>
              </a:rPr>
              <a:t> Media</a:t>
            </a:r>
            <a:pPr indent="0" marL="0">
              <a:buNone/>
            </a:pPr>
            <a:r>
              <a:rPr lang="en-US" sz="1500" b="1" i="1" dirty="0">
                <a:solidFill>
                  <a:srgbClr val="9D8CF0"/>
                </a:solidFill>
                <a:latin typeface="Poppins" pitchFamily="34" charset="0"/>
                <a:ea typeface="Poppins" pitchFamily="34" charset="-122"/>
                <a:cs typeface="Poppins" pitchFamily="34" charset="-120"/>
              </a:rPr>
              <a:t>.</a:t>
            </a:r>
            <a:pPr indent="0" marL="0">
              <a:buNone/>
            </a:pPr>
            <a:r>
              <a:rPr lang="en-US" sz="1500" b="1" i="1" dirty="0">
                <a:solidFill>
                  <a:srgbClr val="FFFFFF"/>
                </a:solidFill>
                <a:latin typeface="Poppins" pitchFamily="34" charset="0"/>
                <a:ea typeface="Poppins" pitchFamily="34" charset="-122"/>
                <a:cs typeface="Poppins" pitchFamily="34" charset="-120"/>
              </a:rPr>
              <a:t> Intelligence</a:t>
            </a:r>
            <a:pPr indent="0" marL="0">
              <a:buNone/>
            </a:pPr>
            <a:r>
              <a:rPr lang="en-US" sz="1500" b="1" i="1" dirty="0">
                <a:solidFill>
                  <a:srgbClr val="9D8CF0"/>
                </a:solidFill>
                <a:latin typeface="Poppins" pitchFamily="34" charset="0"/>
                <a:ea typeface="Poppins" pitchFamily="34" charset="-122"/>
                <a:cs typeface="Poppins" pitchFamily="34" charset="-120"/>
              </a:rPr>
              <a:t>.</a:t>
            </a:r>
            <a:endParaRPr lang="en-US" sz="1500" dirty="0"/>
          </a:p>
        </p:txBody>
      </p:sp>
      <p:sp>
        <p:nvSpPr>
          <p:cNvPr id="5" name="Text 2"/>
          <p:cNvSpPr/>
          <p:nvPr/>
        </p:nvSpPr>
        <p:spPr>
          <a:xfrm>
            <a:off x="640080" y="1828800"/>
            <a:ext cx="9144000" cy="320040"/>
          </a:xfrm>
          <a:prstGeom prst="rect">
            <a:avLst/>
          </a:prstGeom>
          <a:noFill/>
          <a:ln/>
        </p:spPr>
        <p:txBody>
          <a:bodyPr wrap="square" lIns="0" tIns="0" rIns="0" bIns="0" rtlCol="0" anchor="ctr"/>
          <a:lstStyle/>
          <a:p>
            <a:pPr indent="0" marL="0">
              <a:buNone/>
            </a:pPr>
            <a:r>
              <a:rPr lang="en-US" sz="1200" b="1" spc="400" kern="0" dirty="0">
                <a:solidFill>
                  <a:srgbClr val="9D8CF0"/>
                </a:solidFill>
                <a:latin typeface="Poppins" pitchFamily="34" charset="0"/>
                <a:ea typeface="Poppins" pitchFamily="34" charset="-122"/>
                <a:cs typeface="Poppins" pitchFamily="34" charset="-120"/>
              </a:rPr>
              <a:t>PAID MEDIA INTELLIGENCE</a:t>
            </a:r>
            <a:endParaRPr lang="en-US" sz="1200" dirty="0"/>
          </a:p>
        </p:txBody>
      </p:sp>
      <p:sp>
        <p:nvSpPr>
          <p:cNvPr id="6" name="Text 3"/>
          <p:cNvSpPr/>
          <p:nvPr/>
        </p:nvSpPr>
        <p:spPr>
          <a:xfrm>
            <a:off x="640080" y="2148840"/>
            <a:ext cx="9692640" cy="137160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Playfair Display" pitchFamily="34" charset="0"/>
                <a:ea typeface="Playfair Display" pitchFamily="34" charset="-122"/>
                <a:cs typeface="Playfair Display" pitchFamily="34" charset="-120"/>
              </a:rPr>
              <a:t>Every marketing platform tells a different story.</a:t>
            </a:r>
            <a:endParaRPr lang="en-US" sz="3800" dirty="0"/>
          </a:p>
        </p:txBody>
      </p:sp>
      <p:sp>
        <p:nvSpPr>
          <p:cNvPr id="7" name="Text 4"/>
          <p:cNvSpPr/>
          <p:nvPr/>
        </p:nvSpPr>
        <p:spPr>
          <a:xfrm>
            <a:off x="640080" y="3611880"/>
            <a:ext cx="9692640" cy="868680"/>
          </a:xfrm>
          <a:prstGeom prst="rect">
            <a:avLst/>
          </a:prstGeom>
          <a:noFill/>
          <a:ln/>
        </p:spPr>
        <p:txBody>
          <a:bodyPr wrap="square" lIns="0" tIns="0" rIns="0" bIns="0" rtlCol="0" anchor="ctr"/>
          <a:lstStyle/>
          <a:p>
            <a:pPr indent="0" marL="0">
              <a:buNone/>
            </a:pPr>
            <a:r>
              <a:rPr lang="en-US" sz="4400" b="1" i="1" dirty="0">
                <a:solidFill>
                  <a:srgbClr val="9D8CF0"/>
                </a:solidFill>
                <a:latin typeface="Playfair Display" pitchFamily="34" charset="0"/>
                <a:ea typeface="Playfair Display" pitchFamily="34" charset="-122"/>
                <a:cs typeface="Playfair Display" pitchFamily="34" charset="-120"/>
              </a:rPr>
              <a:t>We tell you which one is true.</a:t>
            </a:r>
            <a:endParaRPr lang="en-US" sz="4400" dirty="0"/>
          </a:p>
        </p:txBody>
      </p:sp>
      <p:sp>
        <p:nvSpPr>
          <p:cNvPr id="8" name="Text 5"/>
          <p:cNvSpPr/>
          <p:nvPr/>
        </p:nvSpPr>
        <p:spPr>
          <a:xfrm>
            <a:off x="640080" y="4892040"/>
            <a:ext cx="10058400" cy="640080"/>
          </a:xfrm>
          <a:prstGeom prst="rect">
            <a:avLst/>
          </a:prstGeom>
          <a:noFill/>
          <a:ln/>
        </p:spPr>
        <p:txBody>
          <a:bodyPr wrap="square" lIns="0" tIns="0" rIns="0" bIns="0" rtlCol="0" anchor="ctr"/>
          <a:lstStyle/>
          <a:p>
            <a:pPr indent="0" marL="0">
              <a:buNone/>
            </a:pPr>
            <a:r>
              <a:rPr lang="en-US" sz="2400" b="1" i="1" dirty="0">
                <a:solidFill>
                  <a:srgbClr val="FFFFFF"/>
                </a:solidFill>
                <a:latin typeface="Playfair Display" pitchFamily="34" charset="0"/>
                <a:ea typeface="Playfair Display" pitchFamily="34" charset="-122"/>
                <a:cs typeface="Playfair Display" pitchFamily="34" charset="-120"/>
              </a:rPr>
              <a:t>Because advice should never depend on </a:t>
            </a:r>
            <a:pPr indent="0" marL="0">
              <a:buNone/>
            </a:pPr>
            <a:r>
              <a:rPr lang="en-US" sz="2400" b="1" i="1" dirty="0">
                <a:solidFill>
                  <a:srgbClr val="9D8CF0"/>
                </a:solidFill>
                <a:latin typeface="Playfair Display" pitchFamily="34" charset="0"/>
                <a:ea typeface="Playfair Display" pitchFamily="34" charset="-122"/>
                <a:cs typeface="Playfair Display" pitchFamily="34" charset="-120"/>
              </a:rPr>
              <a:t>how much you spend.</a:t>
            </a:r>
            <a:endParaRPr lang="en-US" sz="2400" dirty="0"/>
          </a:p>
        </p:txBody>
      </p:sp>
      <p:sp>
        <p:nvSpPr>
          <p:cNvPr id="9" name="Text 6"/>
          <p:cNvSpPr/>
          <p:nvPr/>
        </p:nvSpPr>
        <p:spPr>
          <a:xfrm>
            <a:off x="640080" y="5943600"/>
            <a:ext cx="10972800" cy="365760"/>
          </a:xfrm>
          <a:prstGeom prst="rect">
            <a:avLst/>
          </a:prstGeom>
          <a:noFill/>
          <a:ln/>
        </p:spPr>
        <p:txBody>
          <a:bodyPr wrap="square" lIns="0" tIns="0" rIns="0" bIns="0" rtlCol="0" anchor="ctr"/>
          <a:lstStyle/>
          <a:p>
            <a:pPr indent="0" marL="0">
              <a:buNone/>
            </a:pPr>
            <a:r>
              <a:rPr lang="en-US" sz="1250" b="1" spc="100" kern="0" dirty="0">
                <a:solidFill>
                  <a:srgbClr val="A89BD4"/>
                </a:solidFill>
                <a:latin typeface="Poppins" pitchFamily="34" charset="0"/>
                <a:ea typeface="Poppins" pitchFamily="34" charset="-122"/>
                <a:cs typeface="Poppins" pitchFamily="34" charset="-120"/>
              </a:rPr>
              <a:t>ONE FLAT MONTHLY FEE</a:t>
            </a:r>
            <a:pPr indent="0" marL="0">
              <a:buNone/>
            </a:pPr>
            <a:r>
              <a:rPr lang="en-US" sz="1250" b="1" spc="100" kern="0" dirty="0">
                <a:solidFill>
                  <a:srgbClr val="4A4160"/>
                </a:solidFill>
                <a:latin typeface="Poppins" pitchFamily="34" charset="0"/>
                <a:ea typeface="Poppins" pitchFamily="34" charset="-122"/>
                <a:cs typeface="Poppins" pitchFamily="34" charset="-120"/>
              </a:rPr>
              <a:t>   /   </a:t>
            </a:r>
            <a:pPr indent="0" marL="0">
              <a:buNone/>
            </a:pPr>
            <a:r>
              <a:rPr lang="en-US" sz="1250" b="1" spc="100" kern="0" dirty="0">
                <a:solidFill>
                  <a:srgbClr val="A89BD4"/>
                </a:solidFill>
                <a:latin typeface="Poppins" pitchFamily="34" charset="0"/>
                <a:ea typeface="Poppins" pitchFamily="34" charset="-122"/>
                <a:cs typeface="Poppins" pitchFamily="34" charset="-120"/>
              </a:rPr>
              <a:t>$0 MANAGEMENT FEES</a:t>
            </a:r>
            <a:pPr indent="0" marL="0">
              <a:buNone/>
            </a:pPr>
            <a:r>
              <a:rPr lang="en-US" sz="1250" b="1" spc="100" kern="0" dirty="0">
                <a:solidFill>
                  <a:srgbClr val="4A4160"/>
                </a:solidFill>
                <a:latin typeface="Poppins" pitchFamily="34" charset="0"/>
                <a:ea typeface="Poppins" pitchFamily="34" charset="-122"/>
                <a:cs typeface="Poppins" pitchFamily="34" charset="-120"/>
              </a:rPr>
              <a:t>   /   </a:t>
            </a:r>
            <a:pPr indent="0" marL="0">
              <a:buNone/>
            </a:pPr>
            <a:r>
              <a:rPr lang="en-US" sz="1250" b="1" spc="100" kern="0" dirty="0">
                <a:solidFill>
                  <a:srgbClr val="A89BD4"/>
                </a:solidFill>
                <a:latin typeface="Poppins" pitchFamily="34" charset="0"/>
                <a:ea typeface="Poppins" pitchFamily="34" charset="-122"/>
                <a:cs typeface="Poppins" pitchFamily="34" charset="-120"/>
              </a:rPr>
              <a:t>$0 MARKUPS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A"/>
        </a:solidFill>
      </p:bgPr>
    </p:bg>
    <p:spTree>
      <p:nvGrpSpPr>
        <p:cNvPr id="1" name=""/>
        <p:cNvGrpSpPr/>
        <p:nvPr/>
      </p:nvGrpSpPr>
      <p:grpSpPr>
        <a:xfrm>
          <a:off x="0" y="0"/>
          <a:ext cx="0" cy="0"/>
          <a:chOff x="0" y="0"/>
          <a:chExt cx="0" cy="0"/>
        </a:xfrm>
      </p:grpSpPr>
      <p:sp>
        <p:nvSpPr>
          <p:cNvPr id="2" name="Text 0"/>
          <p:cNvSpPr/>
          <p:nvPr/>
        </p:nvSpPr>
        <p:spPr>
          <a:xfrm>
            <a:off x="640080" y="548640"/>
            <a:ext cx="9144000" cy="320040"/>
          </a:xfrm>
          <a:prstGeom prst="rect">
            <a:avLst/>
          </a:prstGeom>
          <a:noFill/>
          <a:ln/>
        </p:spPr>
        <p:txBody>
          <a:bodyPr wrap="square" lIns="0" tIns="0" rIns="0" bIns="0" rtlCol="0" anchor="ctr"/>
          <a:lstStyle/>
          <a:p>
            <a:pPr indent="0" marL="0">
              <a:buNone/>
            </a:pPr>
            <a:r>
              <a:rPr lang="en-US" sz="1200" b="1" spc="400" kern="0" dirty="0">
                <a:solidFill>
                  <a:srgbClr val="6C2FE0"/>
                </a:solidFill>
                <a:latin typeface="Poppins" pitchFamily="34" charset="0"/>
                <a:ea typeface="Poppins" pitchFamily="34" charset="-122"/>
                <a:cs typeface="Poppins" pitchFamily="34" charset="-120"/>
              </a:rPr>
              <a:t>THE PROBLEM</a:t>
            </a:r>
            <a:endParaRPr lang="en-US" sz="1200" dirty="0"/>
          </a:p>
        </p:txBody>
      </p:sp>
      <p:sp>
        <p:nvSpPr>
          <p:cNvPr id="3" name="Text 1"/>
          <p:cNvSpPr/>
          <p:nvPr/>
        </p:nvSpPr>
        <p:spPr>
          <a:xfrm>
            <a:off x="640080" y="914400"/>
            <a:ext cx="10058400" cy="822960"/>
          </a:xfrm>
          <a:prstGeom prst="rect">
            <a:avLst/>
          </a:prstGeom>
          <a:noFill/>
          <a:ln/>
        </p:spPr>
        <p:txBody>
          <a:bodyPr wrap="square" lIns="0" tIns="0" rIns="0" bIns="0" rtlCol="0" anchor="ctr"/>
          <a:lstStyle/>
          <a:p>
            <a:pPr indent="0" marL="0">
              <a:buNone/>
            </a:pPr>
            <a:r>
              <a:rPr lang="en-US" sz="3800" b="1" dirty="0">
                <a:solidFill>
                  <a:srgbClr val="16121F"/>
                </a:solidFill>
                <a:latin typeface="Playfair Display" pitchFamily="34" charset="0"/>
                <a:ea typeface="Playfair Display" pitchFamily="34" charset="-122"/>
                <a:cs typeface="Playfair Display" pitchFamily="34" charset="-120"/>
              </a:rPr>
              <a:t>More spend </a:t>
            </a:r>
            <a:pPr indent="0" marL="0">
              <a:buNone/>
            </a:pPr>
            <a:r>
              <a:rPr lang="en-US" sz="3800" b="1" dirty="0">
                <a:solidFill>
                  <a:srgbClr val="7B3BE9"/>
                </a:solidFill>
                <a:latin typeface="Playfair Display" pitchFamily="34" charset="0"/>
                <a:ea typeface="Playfair Display" pitchFamily="34" charset="-122"/>
                <a:cs typeface="Playfair Display" pitchFamily="34" charset="-120"/>
              </a:rPr>
              <a:t>≠</a:t>
            </a:r>
            <a:pPr indent="0" marL="0">
              <a:buNone/>
            </a:pPr>
            <a:r>
              <a:rPr lang="en-US" sz="3800" b="1" dirty="0">
                <a:solidFill>
                  <a:srgbClr val="16121F"/>
                </a:solidFill>
                <a:latin typeface="Playfair Display" pitchFamily="34" charset="0"/>
                <a:ea typeface="Playfair Display" pitchFamily="34" charset="-122"/>
                <a:cs typeface="Playfair Display" pitchFamily="34" charset="-120"/>
              </a:rPr>
              <a:t> faster decisions</a:t>
            </a:r>
            <a:pPr indent="0" marL="0">
              <a:buNone/>
            </a:pPr>
            <a:r>
              <a:rPr lang="en-US" sz="3800" b="1" dirty="0">
                <a:solidFill>
                  <a:srgbClr val="7B3BE9"/>
                </a:solidFill>
                <a:latin typeface="Playfair Display" pitchFamily="34" charset="0"/>
                <a:ea typeface="Playfair Display" pitchFamily="34" charset="-122"/>
                <a:cs typeface="Playfair Display" pitchFamily="34" charset="-120"/>
              </a:rPr>
              <a:t>.</a:t>
            </a:r>
            <a:endParaRPr lang="en-US" sz="3800" dirty="0"/>
          </a:p>
        </p:txBody>
      </p:sp>
      <p:sp>
        <p:nvSpPr>
          <p:cNvPr id="4" name="Text 2"/>
          <p:cNvSpPr/>
          <p:nvPr/>
        </p:nvSpPr>
        <p:spPr>
          <a:xfrm>
            <a:off x="640080" y="1783080"/>
            <a:ext cx="10058400" cy="457200"/>
          </a:xfrm>
          <a:prstGeom prst="rect">
            <a:avLst/>
          </a:prstGeom>
          <a:noFill/>
          <a:ln/>
        </p:spPr>
        <p:txBody>
          <a:bodyPr wrap="square" lIns="0" tIns="0" rIns="0" bIns="0" rtlCol="0" anchor="ctr"/>
          <a:lstStyle/>
          <a:p>
            <a:pPr indent="0" marL="0">
              <a:buNone/>
            </a:pPr>
            <a:r>
              <a:rPr lang="en-US" sz="1500" dirty="0">
                <a:solidFill>
                  <a:srgbClr val="453D5C"/>
                </a:solidFill>
                <a:latin typeface="Poppins" pitchFamily="34" charset="0"/>
                <a:ea typeface="Poppins" pitchFamily="34" charset="-122"/>
                <a:cs typeface="Poppins" pitchFamily="34" charset="-120"/>
              </a:rPr>
              <a:t>If any of these sound familiar, you already know why growth stalled.</a:t>
            </a:r>
            <a:endParaRPr lang="en-US" sz="1500" dirty="0"/>
          </a:p>
        </p:txBody>
      </p:sp>
      <p:sp>
        <p:nvSpPr>
          <p:cNvPr id="5" name="Shape 3"/>
          <p:cNvSpPr/>
          <p:nvPr/>
        </p:nvSpPr>
        <p:spPr>
          <a:xfrm>
            <a:off x="640080" y="2377440"/>
            <a:ext cx="5257800" cy="1508760"/>
          </a:xfrm>
          <a:prstGeom prst="roundRect">
            <a:avLst>
              <a:gd name="adj" fmla="val 3636"/>
            </a:avLst>
          </a:prstGeom>
          <a:solidFill>
            <a:srgbClr val="FFFFFF"/>
          </a:solidFill>
          <a:ln w="12700">
            <a:solidFill>
              <a:srgbClr val="E4E0EF"/>
            </a:solidFill>
            <a:prstDash val="solid"/>
          </a:ln>
          <a:effectLst>
            <a:outerShdw sx="100000" sy="100000" kx="0" ky="0" algn="bl" rotWithShape="0" blurRad="114300" dist="38100" dir="5400000">
              <a:srgbClr val="000000">
                <a:alpha val="18000"/>
              </a:srgbClr>
            </a:outerShdw>
          </a:effectLst>
        </p:spPr>
      </p:sp>
      <p:sp>
        <p:nvSpPr>
          <p:cNvPr id="6" name="Text 4"/>
          <p:cNvSpPr/>
          <p:nvPr/>
        </p:nvSpPr>
        <p:spPr>
          <a:xfrm>
            <a:off x="914400" y="2542032"/>
            <a:ext cx="4709160" cy="457200"/>
          </a:xfrm>
          <a:prstGeom prst="rect">
            <a:avLst/>
          </a:prstGeom>
          <a:noFill/>
          <a:ln/>
        </p:spPr>
        <p:txBody>
          <a:bodyPr wrap="square" lIns="0" tIns="0" rIns="0" bIns="0" rtlCol="0" anchor="ctr"/>
          <a:lstStyle/>
          <a:p>
            <a:pPr indent="0" marL="0">
              <a:buNone/>
            </a:pPr>
            <a:r>
              <a:rPr lang="en-US" sz="1900" b="1" i="1" dirty="0">
                <a:solidFill>
                  <a:srgbClr val="16121F"/>
                </a:solidFill>
                <a:latin typeface="Playfair Display" pitchFamily="34" charset="0"/>
                <a:ea typeface="Playfair Display" pitchFamily="34" charset="-122"/>
                <a:cs typeface="Playfair Display" pitchFamily="34" charset="-120"/>
              </a:rPr>
              <a:t>Spend first, learn later.</a:t>
            </a:r>
            <a:endParaRPr lang="en-US" sz="1900" dirty="0"/>
          </a:p>
        </p:txBody>
      </p:sp>
      <p:sp>
        <p:nvSpPr>
          <p:cNvPr id="7" name="Text 5"/>
          <p:cNvSpPr/>
          <p:nvPr/>
        </p:nvSpPr>
        <p:spPr>
          <a:xfrm>
            <a:off x="914400" y="3035808"/>
            <a:ext cx="4709160" cy="731520"/>
          </a:xfrm>
          <a:prstGeom prst="rect">
            <a:avLst/>
          </a:prstGeom>
          <a:noFill/>
          <a:ln/>
        </p:spPr>
        <p:txBody>
          <a:bodyPr wrap="square" lIns="0" tIns="0" rIns="0" bIns="0" rtlCol="0" anchor="ctr"/>
          <a:lstStyle/>
          <a:p>
            <a:pPr indent="0" marL="0">
              <a:lnSpc>
                <a:spcPct val="105000"/>
              </a:lnSpc>
              <a:buNone/>
            </a:pPr>
            <a:r>
              <a:rPr lang="en-US" sz="1250" dirty="0">
                <a:solidFill>
                  <a:srgbClr val="453D5C"/>
                </a:solidFill>
                <a:latin typeface="Poppins" pitchFamily="34" charset="0"/>
                <a:ea typeface="Poppins" pitchFamily="34" charset="-122"/>
                <a:cs typeface="Poppins" pitchFamily="34" charset="-120"/>
              </a:rPr>
              <a:t>Most brands buy the lesson after the budget is gone. The report arrives; the money already left.</a:t>
            </a:r>
            <a:endParaRPr lang="en-US" sz="1250" dirty="0"/>
          </a:p>
        </p:txBody>
      </p:sp>
      <p:sp>
        <p:nvSpPr>
          <p:cNvPr id="8" name="Shape 6"/>
          <p:cNvSpPr/>
          <p:nvPr/>
        </p:nvSpPr>
        <p:spPr>
          <a:xfrm>
            <a:off x="6172200" y="2377440"/>
            <a:ext cx="5257800" cy="1508760"/>
          </a:xfrm>
          <a:prstGeom prst="roundRect">
            <a:avLst>
              <a:gd name="adj" fmla="val 3636"/>
            </a:avLst>
          </a:prstGeom>
          <a:solidFill>
            <a:srgbClr val="FFFFFF"/>
          </a:solidFill>
          <a:ln w="12700">
            <a:solidFill>
              <a:srgbClr val="E4E0EF"/>
            </a:solidFill>
            <a:prstDash val="solid"/>
          </a:ln>
          <a:effectLst>
            <a:outerShdw sx="100000" sy="100000" kx="0" ky="0" algn="bl" rotWithShape="0" blurRad="114300" dist="38100" dir="5400000">
              <a:srgbClr val="000000">
                <a:alpha val="18000"/>
              </a:srgbClr>
            </a:outerShdw>
          </a:effectLst>
        </p:spPr>
      </p:sp>
      <p:sp>
        <p:nvSpPr>
          <p:cNvPr id="9" name="Text 7"/>
          <p:cNvSpPr/>
          <p:nvPr/>
        </p:nvSpPr>
        <p:spPr>
          <a:xfrm>
            <a:off x="6446520" y="2542032"/>
            <a:ext cx="4709160" cy="457200"/>
          </a:xfrm>
          <a:prstGeom prst="rect">
            <a:avLst/>
          </a:prstGeom>
          <a:noFill/>
          <a:ln/>
        </p:spPr>
        <p:txBody>
          <a:bodyPr wrap="square" lIns="0" tIns="0" rIns="0" bIns="0" rtlCol="0" anchor="ctr"/>
          <a:lstStyle/>
          <a:p>
            <a:pPr indent="0" marL="0">
              <a:buNone/>
            </a:pPr>
            <a:r>
              <a:rPr lang="en-US" sz="1900" b="1" i="1" dirty="0">
                <a:solidFill>
                  <a:srgbClr val="16121F"/>
                </a:solidFill>
                <a:latin typeface="Playfair Display" pitchFamily="34" charset="0"/>
                <a:ea typeface="Playfair Display" pitchFamily="34" charset="-122"/>
                <a:cs typeface="Playfair Display" pitchFamily="34" charset="-120"/>
              </a:rPr>
              <a:t>Platforms grade their own homework.</a:t>
            </a:r>
            <a:endParaRPr lang="en-US" sz="1900" dirty="0"/>
          </a:p>
        </p:txBody>
      </p:sp>
      <p:sp>
        <p:nvSpPr>
          <p:cNvPr id="10" name="Text 8"/>
          <p:cNvSpPr/>
          <p:nvPr/>
        </p:nvSpPr>
        <p:spPr>
          <a:xfrm>
            <a:off x="6446520" y="3035808"/>
            <a:ext cx="4709160" cy="731520"/>
          </a:xfrm>
          <a:prstGeom prst="rect">
            <a:avLst/>
          </a:prstGeom>
          <a:noFill/>
          <a:ln/>
        </p:spPr>
        <p:txBody>
          <a:bodyPr wrap="square" lIns="0" tIns="0" rIns="0" bIns="0" rtlCol="0" anchor="ctr"/>
          <a:lstStyle/>
          <a:p>
            <a:pPr indent="0" marL="0">
              <a:lnSpc>
                <a:spcPct val="105000"/>
              </a:lnSpc>
              <a:buNone/>
            </a:pPr>
            <a:r>
              <a:rPr lang="en-US" sz="1250" dirty="0">
                <a:solidFill>
                  <a:srgbClr val="453D5C"/>
                </a:solidFill>
                <a:latin typeface="Poppins" pitchFamily="34" charset="0"/>
                <a:ea typeface="Poppins" pitchFamily="34" charset="-122"/>
                <a:cs typeface="Poppins" pitchFamily="34" charset="-120"/>
              </a:rPr>
              <a:t>Every ad platform's recommendations optimize for its own revenue. Of course Google says spend more on Google.</a:t>
            </a:r>
            <a:endParaRPr lang="en-US" sz="1250" dirty="0"/>
          </a:p>
        </p:txBody>
      </p:sp>
      <p:sp>
        <p:nvSpPr>
          <p:cNvPr id="11" name="Shape 9"/>
          <p:cNvSpPr/>
          <p:nvPr/>
        </p:nvSpPr>
        <p:spPr>
          <a:xfrm>
            <a:off x="640080" y="4142232"/>
            <a:ext cx="5257800" cy="1508760"/>
          </a:xfrm>
          <a:prstGeom prst="roundRect">
            <a:avLst>
              <a:gd name="adj" fmla="val 3636"/>
            </a:avLst>
          </a:prstGeom>
          <a:solidFill>
            <a:srgbClr val="FFFFFF"/>
          </a:solidFill>
          <a:ln w="12700">
            <a:solidFill>
              <a:srgbClr val="E4E0EF"/>
            </a:solidFill>
            <a:prstDash val="solid"/>
          </a:ln>
          <a:effectLst>
            <a:outerShdw sx="100000" sy="100000" kx="0" ky="0" algn="bl" rotWithShape="0" blurRad="114300" dist="38100" dir="5400000">
              <a:srgbClr val="000000">
                <a:alpha val="18000"/>
              </a:srgbClr>
            </a:outerShdw>
          </a:effectLst>
        </p:spPr>
      </p:sp>
      <p:sp>
        <p:nvSpPr>
          <p:cNvPr id="12" name="Text 10"/>
          <p:cNvSpPr/>
          <p:nvPr/>
        </p:nvSpPr>
        <p:spPr>
          <a:xfrm>
            <a:off x="914400" y="4306824"/>
            <a:ext cx="4709160" cy="457200"/>
          </a:xfrm>
          <a:prstGeom prst="rect">
            <a:avLst/>
          </a:prstGeom>
          <a:noFill/>
          <a:ln/>
        </p:spPr>
        <p:txBody>
          <a:bodyPr wrap="square" lIns="0" tIns="0" rIns="0" bIns="0" rtlCol="0" anchor="ctr"/>
          <a:lstStyle/>
          <a:p>
            <a:pPr indent="0" marL="0">
              <a:buNone/>
            </a:pPr>
            <a:r>
              <a:rPr lang="en-US" sz="1900" b="1" i="1" dirty="0">
                <a:solidFill>
                  <a:srgbClr val="16121F"/>
                </a:solidFill>
                <a:latin typeface="Playfair Display" pitchFamily="34" charset="0"/>
                <a:ea typeface="Playfair Display" pitchFamily="34" charset="-122"/>
                <a:cs typeface="Playfair Display" pitchFamily="34" charset="-120"/>
              </a:rPr>
              <a:t>Data sits in silos.</a:t>
            </a:r>
            <a:endParaRPr lang="en-US" sz="1900" dirty="0"/>
          </a:p>
        </p:txBody>
      </p:sp>
      <p:sp>
        <p:nvSpPr>
          <p:cNvPr id="13" name="Text 11"/>
          <p:cNvSpPr/>
          <p:nvPr/>
        </p:nvSpPr>
        <p:spPr>
          <a:xfrm>
            <a:off x="914400" y="4800600"/>
            <a:ext cx="4709160" cy="731520"/>
          </a:xfrm>
          <a:prstGeom prst="rect">
            <a:avLst/>
          </a:prstGeom>
          <a:noFill/>
          <a:ln/>
        </p:spPr>
        <p:txBody>
          <a:bodyPr wrap="square" lIns="0" tIns="0" rIns="0" bIns="0" rtlCol="0" anchor="ctr"/>
          <a:lstStyle/>
          <a:p>
            <a:pPr indent="0" marL="0">
              <a:lnSpc>
                <a:spcPct val="105000"/>
              </a:lnSpc>
              <a:buNone/>
            </a:pPr>
            <a:r>
              <a:rPr lang="en-US" sz="1250" dirty="0">
                <a:solidFill>
                  <a:srgbClr val="453D5C"/>
                </a:solidFill>
                <a:latin typeface="Poppins" pitchFamily="34" charset="0"/>
                <a:ea typeface="Poppins" pitchFamily="34" charset="-122"/>
                <a:cs typeface="Poppins" pitchFamily="34" charset="-120"/>
              </a:rPr>
              <a:t>Sales in one system, media in five others, attribution stitched together in a spreadsheet nobody fully trusts.</a:t>
            </a:r>
            <a:endParaRPr lang="en-US" sz="1250" dirty="0"/>
          </a:p>
        </p:txBody>
      </p:sp>
      <p:sp>
        <p:nvSpPr>
          <p:cNvPr id="14" name="Shape 12"/>
          <p:cNvSpPr/>
          <p:nvPr/>
        </p:nvSpPr>
        <p:spPr>
          <a:xfrm>
            <a:off x="6172200" y="4142232"/>
            <a:ext cx="5257800" cy="1508760"/>
          </a:xfrm>
          <a:prstGeom prst="roundRect">
            <a:avLst>
              <a:gd name="adj" fmla="val 3636"/>
            </a:avLst>
          </a:prstGeom>
          <a:solidFill>
            <a:srgbClr val="FFFFFF"/>
          </a:solidFill>
          <a:ln w="12700">
            <a:solidFill>
              <a:srgbClr val="E4E0EF"/>
            </a:solidFill>
            <a:prstDash val="solid"/>
          </a:ln>
          <a:effectLst>
            <a:outerShdw sx="100000" sy="100000" kx="0" ky="0" algn="bl" rotWithShape="0" blurRad="114300" dist="38100" dir="5400000">
              <a:srgbClr val="000000">
                <a:alpha val="18000"/>
              </a:srgbClr>
            </a:outerShdw>
          </a:effectLst>
        </p:spPr>
      </p:sp>
      <p:sp>
        <p:nvSpPr>
          <p:cNvPr id="15" name="Text 13"/>
          <p:cNvSpPr/>
          <p:nvPr/>
        </p:nvSpPr>
        <p:spPr>
          <a:xfrm>
            <a:off x="6446520" y="4306824"/>
            <a:ext cx="4709160" cy="457200"/>
          </a:xfrm>
          <a:prstGeom prst="rect">
            <a:avLst/>
          </a:prstGeom>
          <a:noFill/>
          <a:ln/>
        </p:spPr>
        <p:txBody>
          <a:bodyPr wrap="square" lIns="0" tIns="0" rIns="0" bIns="0" rtlCol="0" anchor="ctr"/>
          <a:lstStyle/>
          <a:p>
            <a:pPr indent="0" marL="0">
              <a:buNone/>
            </a:pPr>
            <a:r>
              <a:rPr lang="en-US" sz="1900" b="1" i="1" dirty="0">
                <a:solidFill>
                  <a:srgbClr val="16121F"/>
                </a:solidFill>
                <a:latin typeface="Playfair Display" pitchFamily="34" charset="0"/>
                <a:ea typeface="Playfair Display" pitchFamily="34" charset="-122"/>
                <a:cs typeface="Playfair Display" pitchFamily="34" charset="-120"/>
              </a:rPr>
              <a:t>Reporting eats the week.</a:t>
            </a:r>
            <a:endParaRPr lang="en-US" sz="1900" dirty="0"/>
          </a:p>
        </p:txBody>
      </p:sp>
      <p:sp>
        <p:nvSpPr>
          <p:cNvPr id="16" name="Text 14"/>
          <p:cNvSpPr/>
          <p:nvPr/>
        </p:nvSpPr>
        <p:spPr>
          <a:xfrm>
            <a:off x="6446520" y="4800600"/>
            <a:ext cx="4709160" cy="731520"/>
          </a:xfrm>
          <a:prstGeom prst="rect">
            <a:avLst/>
          </a:prstGeom>
          <a:noFill/>
          <a:ln/>
        </p:spPr>
        <p:txBody>
          <a:bodyPr wrap="square" lIns="0" tIns="0" rIns="0" bIns="0" rtlCol="0" anchor="ctr"/>
          <a:lstStyle/>
          <a:p>
            <a:pPr indent="0" marL="0">
              <a:lnSpc>
                <a:spcPct val="105000"/>
              </a:lnSpc>
              <a:buNone/>
            </a:pPr>
            <a:r>
              <a:rPr lang="en-US" sz="1250" dirty="0">
                <a:solidFill>
                  <a:srgbClr val="453D5C"/>
                </a:solidFill>
                <a:latin typeface="Poppins" pitchFamily="34" charset="0"/>
                <a:ea typeface="Poppins" pitchFamily="34" charset="-122"/>
                <a:cs typeface="Poppins" pitchFamily="34" charset="-120"/>
              </a:rPr>
              <a:t>Hours assembling numbers that still don't answer the only question that matters: what do we scale?</a:t>
            </a:r>
            <a:endParaRPr lang="en-US" sz="1250" dirty="0"/>
          </a:p>
        </p:txBody>
      </p:sp>
      <p:sp>
        <p:nvSpPr>
          <p:cNvPr id="17" name="Text 15"/>
          <p:cNvSpPr/>
          <p:nvPr/>
        </p:nvSpPr>
        <p:spPr>
          <a:xfrm>
            <a:off x="640080" y="6172200"/>
            <a:ext cx="10972800" cy="457200"/>
          </a:xfrm>
          <a:prstGeom prst="rect">
            <a:avLst/>
          </a:prstGeom>
          <a:noFill/>
          <a:ln/>
        </p:spPr>
        <p:txBody>
          <a:bodyPr wrap="square" lIns="0" tIns="0" rIns="0" bIns="0" rtlCol="0" anchor="ctr"/>
          <a:lstStyle/>
          <a:p>
            <a:pPr algn="ctr" indent="0" marL="0">
              <a:buNone/>
            </a:pPr>
            <a:r>
              <a:rPr lang="en-US" sz="1700" b="1" i="1" dirty="0">
                <a:solidFill>
                  <a:srgbClr val="16121F"/>
                </a:solidFill>
                <a:latin typeface="Poppins" pitchFamily="34" charset="0"/>
                <a:ea typeface="Poppins" pitchFamily="34" charset="-122"/>
                <a:cs typeface="Poppins" pitchFamily="34" charset="-120"/>
              </a:rPr>
              <a:t>None of this is a spending problem. It's a decision problem, and decisions need </a:t>
            </a:r>
            <a:pPr algn="ctr" indent="0" marL="0">
              <a:buNone/>
            </a:pPr>
            <a:r>
              <a:rPr lang="en-US" sz="1700" b="1" i="1" dirty="0">
                <a:solidFill>
                  <a:srgbClr val="7B3BE9"/>
                </a:solidFill>
                <a:latin typeface="Poppins" pitchFamily="34" charset="0"/>
                <a:ea typeface="Poppins" pitchFamily="34" charset="-122"/>
                <a:cs typeface="Poppins" pitchFamily="34" charset="-120"/>
              </a:rPr>
              <a:t>intelligence</a:t>
            </a:r>
            <a:pPr algn="ctr" indent="0" marL="0">
              <a:buNone/>
            </a:pPr>
            <a:r>
              <a:rPr lang="en-US" sz="1700" b="1" i="1" dirty="0">
                <a:solidFill>
                  <a:srgbClr val="7B3BE9"/>
                </a:solidFill>
                <a:latin typeface="Poppins" pitchFamily="34" charset="0"/>
                <a:ea typeface="Poppins" pitchFamily="34" charset="-122"/>
                <a:cs typeface="Poppins" pitchFamily="34" charset="-120"/>
              </a:rPr>
              <a: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CF5"/>
        </a:solidFill>
      </p:bgPr>
    </p:bg>
    <p:spTree>
      <p:nvGrpSpPr>
        <p:cNvPr id="1" name=""/>
        <p:cNvGrpSpPr/>
        <p:nvPr/>
      </p:nvGrpSpPr>
      <p:grpSpPr>
        <a:xfrm>
          <a:off x="0" y="0"/>
          <a:ext cx="0" cy="0"/>
          <a:chOff x="0" y="0"/>
          <a:chExt cx="0" cy="0"/>
        </a:xfrm>
      </p:grpSpPr>
      <p:sp>
        <p:nvSpPr>
          <p:cNvPr id="2" name="Text 0"/>
          <p:cNvSpPr/>
          <p:nvPr/>
        </p:nvSpPr>
        <p:spPr>
          <a:xfrm>
            <a:off x="640080" y="548640"/>
            <a:ext cx="9144000" cy="320040"/>
          </a:xfrm>
          <a:prstGeom prst="rect">
            <a:avLst/>
          </a:prstGeom>
          <a:noFill/>
          <a:ln/>
        </p:spPr>
        <p:txBody>
          <a:bodyPr wrap="square" lIns="0" tIns="0" rIns="0" bIns="0" rtlCol="0" anchor="ctr"/>
          <a:lstStyle/>
          <a:p>
            <a:pPr indent="0" marL="0">
              <a:buNone/>
            </a:pPr>
            <a:r>
              <a:rPr lang="en-US" sz="1200" b="1" spc="400" kern="0" dirty="0">
                <a:solidFill>
                  <a:srgbClr val="6C2FE0"/>
                </a:solidFill>
                <a:latin typeface="Poppins" pitchFamily="34" charset="0"/>
                <a:ea typeface="Poppins" pitchFamily="34" charset="-122"/>
                <a:cs typeface="Poppins" pitchFamily="34" charset="-120"/>
              </a:rPr>
              <a:t>SEE THE DIFFERENCE</a:t>
            </a:r>
            <a:endParaRPr lang="en-US" sz="1200" dirty="0"/>
          </a:p>
        </p:txBody>
      </p:sp>
      <p:sp>
        <p:nvSpPr>
          <p:cNvPr id="3" name="Text 1"/>
          <p:cNvSpPr/>
          <p:nvPr/>
        </p:nvSpPr>
        <p:spPr>
          <a:xfrm>
            <a:off x="640080" y="914400"/>
            <a:ext cx="10972800" cy="822960"/>
          </a:xfrm>
          <a:prstGeom prst="rect">
            <a:avLst/>
          </a:prstGeom>
          <a:noFill/>
          <a:ln/>
        </p:spPr>
        <p:txBody>
          <a:bodyPr wrap="square" lIns="0" tIns="0" rIns="0" bIns="0" rtlCol="0" anchor="ctr"/>
          <a:lstStyle/>
          <a:p>
            <a:pPr indent="0" marL="0">
              <a:buNone/>
            </a:pPr>
            <a:r>
              <a:rPr lang="en-US" sz="3600" b="1" dirty="0">
                <a:solidFill>
                  <a:srgbClr val="16121F"/>
                </a:solidFill>
                <a:latin typeface="Playfair Display" pitchFamily="34" charset="0"/>
                <a:ea typeface="Playfair Display" pitchFamily="34" charset="-122"/>
                <a:cs typeface="Playfair Display" pitchFamily="34" charset="-120"/>
              </a:rPr>
              <a:t>Same prompt</a:t>
            </a:r>
            <a:pPr indent="0" marL="0">
              <a:buNone/>
            </a:pPr>
            <a:r>
              <a:rPr lang="en-US" sz="3600" b="1" dirty="0">
                <a:solidFill>
                  <a:srgbClr val="7B3BE9"/>
                </a:solidFill>
                <a:latin typeface="Playfair Display" pitchFamily="34" charset="0"/>
                <a:ea typeface="Playfair Display" pitchFamily="34" charset="-122"/>
                <a:cs typeface="Playfair Display" pitchFamily="34" charset="-120"/>
              </a:rPr>
              <a:t>.</a:t>
            </a:r>
            <a:pPr indent="0" marL="0">
              <a:buNone/>
            </a:pPr>
            <a:r>
              <a:rPr lang="en-US" sz="3600" b="1" dirty="0">
                <a:solidFill>
                  <a:srgbClr val="16121F"/>
                </a:solidFill>
                <a:latin typeface="Playfair Display" pitchFamily="34" charset="0"/>
                <a:ea typeface="Playfair Display" pitchFamily="34" charset="-122"/>
                <a:cs typeface="Playfair Display" pitchFamily="34" charset="-120"/>
              </a:rPr>
              <a:t> Two different answers</a:t>
            </a:r>
            <a:endParaRPr lang="en-US" sz="3600" dirty="0"/>
          </a:p>
        </p:txBody>
      </p:sp>
      <p:sp>
        <p:nvSpPr>
          <p:cNvPr id="4" name="Shape 2"/>
          <p:cNvSpPr/>
          <p:nvPr/>
        </p:nvSpPr>
        <p:spPr>
          <a:xfrm>
            <a:off x="640080" y="1874520"/>
            <a:ext cx="5257800" cy="3977640"/>
          </a:xfrm>
          <a:prstGeom prst="roundRect">
            <a:avLst>
              <a:gd name="adj" fmla="val 1379"/>
            </a:avLst>
          </a:prstGeom>
          <a:solidFill>
            <a:srgbClr val="FFFFFF"/>
          </a:solidFill>
          <a:ln w="12700">
            <a:solidFill>
              <a:srgbClr val="E4E0EF"/>
            </a:solidFill>
            <a:prstDash val="solid"/>
          </a:ln>
          <a:effectLst>
            <a:outerShdw sx="100000" sy="100000" kx="0" ky="0" algn="bl" rotWithShape="0" blurRad="114300" dist="38100" dir="5400000">
              <a:srgbClr val="000000">
                <a:alpha val="18000"/>
              </a:srgbClr>
            </a:outerShdw>
          </a:effectLst>
        </p:spPr>
      </p:sp>
      <p:sp>
        <p:nvSpPr>
          <p:cNvPr id="5" name="Text 3"/>
          <p:cNvSpPr/>
          <p:nvPr/>
        </p:nvSpPr>
        <p:spPr>
          <a:xfrm>
            <a:off x="640080" y="2011680"/>
            <a:ext cx="5257800" cy="457200"/>
          </a:xfrm>
          <a:prstGeom prst="rect">
            <a:avLst/>
          </a:prstGeom>
          <a:noFill/>
          <a:ln/>
        </p:spPr>
        <p:txBody>
          <a:bodyPr wrap="square" lIns="0" tIns="0" rIns="0" bIns="0" rtlCol="0" anchor="ctr"/>
          <a:lstStyle/>
          <a:p>
            <a:pPr algn="ctr" indent="0" marL="0">
              <a:buNone/>
            </a:pPr>
            <a:r>
              <a:rPr lang="en-US" sz="2200" b="1" dirty="0">
                <a:solidFill>
                  <a:srgbClr val="9B93AD"/>
                </a:solidFill>
                <a:latin typeface="Playfair Display" pitchFamily="34" charset="0"/>
                <a:ea typeface="Playfair Display" pitchFamily="34" charset="-122"/>
                <a:cs typeface="Playfair Display" pitchFamily="34" charset="-120"/>
              </a:rPr>
              <a:t>ChatGPT</a:t>
            </a:r>
            <a:endParaRPr lang="en-US" sz="2200" dirty="0"/>
          </a:p>
        </p:txBody>
      </p:sp>
      <p:pic>
        <p:nvPicPr>
          <p:cNvPr id="6" name="Image 0" descr="C:/Users/13025/AppData/Local/Temp/claude/C--Users-13025-OneDrive-Desktop-Claude-Code/6df39e99-516b-46de-9b62-34ab7512c5e8/scratchpad/deck_assets/p07_Image162.jpg">    </p:cNvPr>
          <p:cNvPicPr>
            <a:picLocks noChangeAspect="1"/>
          </p:cNvPicPr>
          <p:nvPr/>
        </p:nvPicPr>
        <p:blipFill>
          <a:blip r:embed="rId1"/>
          <a:srcRect l="-12089" r="-12089" t="0" b="0"/>
          <a:stretch/>
        </p:blipFill>
        <p:spPr>
          <a:xfrm>
            <a:off x="960120" y="2560320"/>
            <a:ext cx="4617720" cy="2331720"/>
          </a:xfrm>
          <a:prstGeom prst="rect">
            <a:avLst/>
          </a:prstGeom>
        </p:spPr>
      </p:pic>
      <p:sp>
        <p:nvSpPr>
          <p:cNvPr id="7" name="Text 4"/>
          <p:cNvSpPr/>
          <p:nvPr/>
        </p:nvSpPr>
        <p:spPr>
          <a:xfrm>
            <a:off x="960120" y="5074920"/>
            <a:ext cx="4617720" cy="685800"/>
          </a:xfrm>
          <a:prstGeom prst="rect">
            <a:avLst/>
          </a:prstGeom>
          <a:noFill/>
          <a:ln/>
        </p:spPr>
        <p:txBody>
          <a:bodyPr wrap="square" lIns="0" tIns="0" rIns="0" bIns="0" rtlCol="0" anchor="ctr"/>
          <a:lstStyle/>
          <a:p>
            <a:pPr indent="0" marL="0">
              <a:lnSpc>
                <a:spcPct val="105000"/>
              </a:lnSpc>
              <a:buNone/>
            </a:pPr>
            <a:r>
              <a:rPr lang="en-US" sz="1200" dirty="0">
                <a:solidFill>
                  <a:srgbClr val="453D5C"/>
                </a:solidFill>
                <a:latin typeface="Poppins" pitchFamily="34" charset="0"/>
                <a:ea typeface="Poppins" pitchFamily="34" charset="-122"/>
                <a:cs typeface="Poppins" pitchFamily="34" charset="-120"/>
              </a:rPr>
              <a:t>No access to your accounts. It asks you for the numbers, then summarizes what you already knew.</a:t>
            </a:r>
            <a:endParaRPr lang="en-US" sz="1200" dirty="0"/>
          </a:p>
        </p:txBody>
      </p:sp>
      <p:sp>
        <p:nvSpPr>
          <p:cNvPr id="8" name="Shape 5"/>
          <p:cNvSpPr/>
          <p:nvPr/>
        </p:nvSpPr>
        <p:spPr>
          <a:xfrm>
            <a:off x="6172200" y="1874520"/>
            <a:ext cx="5257800" cy="3977640"/>
          </a:xfrm>
          <a:prstGeom prst="roundRect">
            <a:avLst>
              <a:gd name="adj" fmla="val 1379"/>
            </a:avLst>
          </a:prstGeom>
          <a:solidFill>
            <a:srgbClr val="FFFFFF"/>
          </a:solidFill>
          <a:ln w="12700">
            <a:solidFill>
              <a:srgbClr val="E4E0EF"/>
            </a:solidFill>
            <a:prstDash val="solid"/>
          </a:ln>
          <a:effectLst>
            <a:outerShdw sx="100000" sy="100000" kx="0" ky="0" algn="bl" rotWithShape="0" blurRad="114300" dist="38100" dir="5400000">
              <a:srgbClr val="000000">
                <a:alpha val="18000"/>
              </a:srgbClr>
            </a:outerShdw>
          </a:effectLst>
        </p:spPr>
      </p:sp>
      <p:sp>
        <p:nvSpPr>
          <p:cNvPr id="9" name="Text 6"/>
          <p:cNvSpPr/>
          <p:nvPr/>
        </p:nvSpPr>
        <p:spPr>
          <a:xfrm>
            <a:off x="6172200" y="2011680"/>
            <a:ext cx="5257800" cy="457200"/>
          </a:xfrm>
          <a:prstGeom prst="rect">
            <a:avLst/>
          </a:prstGeom>
          <a:noFill/>
          <a:ln/>
        </p:spPr>
        <p:txBody>
          <a:bodyPr wrap="square" lIns="0" tIns="0" rIns="0" bIns="0" rtlCol="0" anchor="ctr"/>
          <a:lstStyle/>
          <a:p>
            <a:pPr algn="ctr" indent="0" marL="0">
              <a:buNone/>
            </a:pPr>
            <a:r>
              <a:rPr lang="en-US" sz="2200" b="1" dirty="0">
                <a:solidFill>
                  <a:srgbClr val="6C2FE0"/>
                </a:solidFill>
                <a:latin typeface="Playfair Display" pitchFamily="34" charset="0"/>
                <a:ea typeface="Playfair Display" pitchFamily="34" charset="-122"/>
                <a:cs typeface="Playfair Display" pitchFamily="34" charset="-120"/>
              </a:rPr>
              <a:t>DISTRIKT</a:t>
            </a:r>
            <a:endParaRPr lang="en-US" sz="2200" dirty="0"/>
          </a:p>
        </p:txBody>
      </p:sp>
      <p:pic>
        <p:nvPicPr>
          <p:cNvPr id="10" name="Image 1" descr="C:/Users/13025/AppData/Local/Temp/claude/C--Users-13025-OneDrive-Desktop-Claude-Code/6df39e99-516b-46de-9b62-34ab7512c5e8/scratchpad/deck_assets/slide7_distrikt.png">    </p:cNvPr>
          <p:cNvPicPr>
            <a:picLocks noChangeAspect="1"/>
          </p:cNvPicPr>
          <p:nvPr/>
        </p:nvPicPr>
        <p:blipFill>
          <a:blip r:embed="rId2"/>
          <a:srcRect l="-11721" r="-11721" t="0" b="0"/>
          <a:stretch/>
        </p:blipFill>
        <p:spPr>
          <a:xfrm>
            <a:off x="6492240" y="2560320"/>
            <a:ext cx="4617720" cy="2331720"/>
          </a:xfrm>
          <a:prstGeom prst="rect">
            <a:avLst/>
          </a:prstGeom>
        </p:spPr>
      </p:pic>
      <p:sp>
        <p:nvSpPr>
          <p:cNvPr id="11" name="Text 7"/>
          <p:cNvSpPr/>
          <p:nvPr/>
        </p:nvSpPr>
        <p:spPr>
          <a:xfrm>
            <a:off x="6492240" y="5074920"/>
            <a:ext cx="4617720" cy="685800"/>
          </a:xfrm>
          <a:prstGeom prst="rect">
            <a:avLst/>
          </a:prstGeom>
          <a:noFill/>
          <a:ln/>
        </p:spPr>
        <p:txBody>
          <a:bodyPr wrap="square" lIns="0" tIns="0" rIns="0" bIns="0" rtlCol="0" anchor="ctr"/>
          <a:lstStyle/>
          <a:p>
            <a:pPr indent="0" marL="0">
              <a:lnSpc>
                <a:spcPct val="105000"/>
              </a:lnSpc>
              <a:buNone/>
            </a:pPr>
            <a:r>
              <a:rPr lang="en-US" sz="1200" dirty="0">
                <a:solidFill>
                  <a:srgbClr val="453D5C"/>
                </a:solidFill>
                <a:latin typeface="Poppins" pitchFamily="34" charset="0"/>
                <a:ea typeface="Poppins" pitchFamily="34" charset="-122"/>
                <a:cs typeface="Poppins" pitchFamily="34" charset="-120"/>
              </a:rPr>
              <a:t>Plugged into your accounts. It answers with your numbers: spend, ROAS, attribution, and what to do next.</a:t>
            </a:r>
            <a:endParaRPr lang="en-US" sz="1200" dirty="0"/>
          </a:p>
        </p:txBody>
      </p:sp>
      <p:sp>
        <p:nvSpPr>
          <p:cNvPr id="12" name="Text 8"/>
          <p:cNvSpPr/>
          <p:nvPr/>
        </p:nvSpPr>
        <p:spPr>
          <a:xfrm>
            <a:off x="640080" y="6126480"/>
            <a:ext cx="10972800" cy="457200"/>
          </a:xfrm>
          <a:prstGeom prst="rect">
            <a:avLst/>
          </a:prstGeom>
          <a:noFill/>
          <a:ln/>
        </p:spPr>
        <p:txBody>
          <a:bodyPr wrap="square" lIns="0" tIns="0" rIns="0" bIns="0" rtlCol="0" anchor="ctr"/>
          <a:lstStyle/>
          <a:p>
            <a:pPr algn="ctr" indent="0" marL="0">
              <a:buNone/>
            </a:pPr>
            <a:r>
              <a:rPr lang="en-US" sz="1800" b="1" i="1" dirty="0">
                <a:solidFill>
                  <a:srgbClr val="16121F"/>
                </a:solidFill>
                <a:latin typeface="Poppins" pitchFamily="34" charset="0"/>
                <a:ea typeface="Poppins" pitchFamily="34" charset="-122"/>
                <a:cs typeface="Poppins" pitchFamily="34" charset="-120"/>
              </a:rPr>
              <a:t>Other tools guess</a:t>
            </a:r>
            <a:pPr algn="ctr" indent="0" marL="0">
              <a:buNone/>
            </a:pPr>
            <a:r>
              <a:rPr lang="en-US" sz="1800" b="1" i="1" dirty="0">
                <a:solidFill>
                  <a:srgbClr val="7B3BE9"/>
                </a:solidFill>
                <a:latin typeface="Poppins" pitchFamily="34" charset="0"/>
                <a:ea typeface="Poppins" pitchFamily="34" charset="-122"/>
                <a:cs typeface="Poppins" pitchFamily="34" charset="-120"/>
              </a:rPr>
              <a:t>. </a:t>
            </a:r>
            <a:pPr algn="ctr" indent="0" marL="0">
              <a:buNone/>
            </a:pPr>
            <a:r>
              <a:rPr lang="en-US" sz="1800" b="1" i="1" dirty="0">
                <a:solidFill>
                  <a:srgbClr val="16121F"/>
                </a:solidFill>
                <a:latin typeface="Poppins" pitchFamily="34" charset="0"/>
                <a:ea typeface="Poppins" pitchFamily="34" charset="-122"/>
                <a:cs typeface="Poppins" pitchFamily="34" charset="-120"/>
              </a:rPr>
              <a:t>DISTRIKT knows</a:t>
            </a:r>
            <a:pPr algn="ctr" indent="0" marL="0">
              <a:buNone/>
            </a:pPr>
            <a:r>
              <a:rPr lang="en-US" sz="1800" b="1" i="1" dirty="0">
                <a:solidFill>
                  <a:srgbClr val="7B3BE9"/>
                </a:solidFill>
                <a:latin typeface="Poppins" pitchFamily="34" charset="0"/>
                <a:ea typeface="Poppins" pitchFamily="34" charset="-122"/>
                <a:cs typeface="Poppins" pitchFamily="34" charset="-120"/>
              </a:rPr>
              <a: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710"/>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400" kern="0" dirty="0">
                <a:solidFill>
                  <a:srgbClr val="9D8CF0"/>
                </a:solidFill>
                <a:latin typeface="Poppins" pitchFamily="34" charset="0"/>
                <a:ea typeface="Poppins" pitchFamily="34" charset="-122"/>
                <a:cs typeface="Poppins" pitchFamily="34" charset="-120"/>
              </a:rPr>
              <a:t>OUR PLATFORM</a:t>
            </a:r>
            <a:endParaRPr lang="en-US" sz="1200" dirty="0"/>
          </a:p>
        </p:txBody>
      </p:sp>
      <p:sp>
        <p:nvSpPr>
          <p:cNvPr id="3" name="Text 1"/>
          <p:cNvSpPr/>
          <p:nvPr/>
        </p:nvSpPr>
        <p:spPr>
          <a:xfrm>
            <a:off x="640080" y="868680"/>
            <a:ext cx="10058400" cy="731520"/>
          </a:xfrm>
          <a:prstGeom prst="rect">
            <a:avLst/>
          </a:prstGeom>
          <a:noFill/>
          <a:ln/>
        </p:spPr>
        <p:txBody>
          <a:bodyPr wrap="square" lIns="0" tIns="0" rIns="0" bIns="0" rtlCol="0" anchor="ctr"/>
          <a:lstStyle/>
          <a:p>
            <a:pPr indent="0" marL="0">
              <a:buNone/>
            </a:pPr>
            <a:r>
              <a:rPr lang="en-US" sz="3600" b="1" dirty="0">
                <a:solidFill>
                  <a:srgbClr val="FFFFFF"/>
                </a:solidFill>
                <a:latin typeface="Playfair Display" pitchFamily="34" charset="0"/>
                <a:ea typeface="Playfair Display" pitchFamily="34" charset="-122"/>
                <a:cs typeface="Playfair Display" pitchFamily="34" charset="-120"/>
              </a:rPr>
              <a:t>Not another chatbot</a:t>
            </a:r>
            <a:pPr indent="0" marL="0">
              <a:buNone/>
            </a:pPr>
            <a:r>
              <a:rPr lang="en-US" sz="3600" b="1" dirty="0">
                <a:solidFill>
                  <a:srgbClr val="9D8CF0"/>
                </a:solidFill>
                <a:latin typeface="Playfair Display" pitchFamily="34" charset="0"/>
                <a:ea typeface="Playfair Display" pitchFamily="34" charset="-122"/>
                <a:cs typeface="Playfair Display" pitchFamily="34" charset="-120"/>
              </a:rPr>
              <a:t>.</a:t>
            </a:r>
            <a:endParaRPr lang="en-US" sz="3600" dirty="0"/>
          </a:p>
        </p:txBody>
      </p:sp>
      <p:sp>
        <p:nvSpPr>
          <p:cNvPr id="4" name="Text 2"/>
          <p:cNvSpPr/>
          <p:nvPr/>
        </p:nvSpPr>
        <p:spPr>
          <a:xfrm>
            <a:off x="640080" y="1600200"/>
            <a:ext cx="10058400" cy="457200"/>
          </a:xfrm>
          <a:prstGeom prst="rect">
            <a:avLst/>
          </a:prstGeom>
          <a:noFill/>
          <a:ln/>
        </p:spPr>
        <p:txBody>
          <a:bodyPr wrap="square" lIns="0" tIns="0" rIns="0" bIns="0" rtlCol="0" anchor="ctr"/>
          <a:lstStyle/>
          <a:p>
            <a:pPr indent="0" marL="0">
              <a:buNone/>
            </a:pPr>
            <a:r>
              <a:rPr lang="en-US" sz="1700" b="1" i="1" dirty="0">
                <a:solidFill>
                  <a:srgbClr val="9D8CF0"/>
                </a:solidFill>
                <a:latin typeface="Poppins" pitchFamily="34" charset="0"/>
                <a:ea typeface="Poppins" pitchFamily="34" charset="-122"/>
                <a:cs typeface="Poppins" pitchFamily="34" charset="-120"/>
              </a:rPr>
              <a:t>Meet KNVRT: AI agent workflows, built into your business.</a:t>
            </a:r>
            <a:endParaRPr lang="en-US" sz="1700" dirty="0"/>
          </a:p>
        </p:txBody>
      </p:sp>
      <p:pic>
        <p:nvPicPr>
          <p:cNvPr id="5" name="Image 0" descr="C:/Users/13025/AppData/Local/Temp/claude/C--Users-13025-OneDrive-Desktop-Claude-Code/6df39e99-516b-46de-9b62-34ab7512c5e8/scratchpad/deck_assets/p06_Image139.jpg">    </p:cNvPr>
          <p:cNvPicPr>
            <a:picLocks noChangeAspect="1"/>
          </p:cNvPicPr>
          <p:nvPr/>
        </p:nvPicPr>
        <p:blipFill>
          <a:blip r:embed="rId1"/>
          <a:stretch>
            <a:fillRect/>
          </a:stretch>
        </p:blipFill>
        <p:spPr>
          <a:xfrm>
            <a:off x="640080" y="2377440"/>
            <a:ext cx="6583680" cy="3172678"/>
          </a:xfrm>
          <a:prstGeom prst="rect">
            <a:avLst/>
          </a:prstGeom>
        </p:spPr>
      </p:pic>
      <p:sp>
        <p:nvSpPr>
          <p:cNvPr id="6" name="Shape 3"/>
          <p:cNvSpPr/>
          <p:nvPr/>
        </p:nvSpPr>
        <p:spPr>
          <a:xfrm>
            <a:off x="640080" y="2377440"/>
            <a:ext cx="6583680" cy="3172678"/>
          </a:xfrm>
          <a:prstGeom prst="rect">
            <a:avLst/>
          </a:prstGeom>
          <a:ln w="12700">
            <a:solidFill>
              <a:srgbClr val="9D8CF0">
                <a:alpha val="60000"/>
              </a:srgbClr>
            </a:solidFill>
            <a:prstDash val="solid"/>
          </a:ln>
        </p:spPr>
      </p:sp>
      <p:sp>
        <p:nvSpPr>
          <p:cNvPr id="7" name="Text 4"/>
          <p:cNvSpPr/>
          <p:nvPr/>
        </p:nvSpPr>
        <p:spPr>
          <a:xfrm>
            <a:off x="7772400" y="2468880"/>
            <a:ext cx="4206240" cy="1554480"/>
          </a:xfrm>
          <a:prstGeom prst="rect">
            <a:avLst/>
          </a:prstGeom>
          <a:noFill/>
          <a:ln/>
        </p:spPr>
        <p:txBody>
          <a:bodyPr wrap="square" lIns="0" tIns="0" rIns="0" bIns="0" rtlCol="0" anchor="ctr"/>
          <a:lstStyle/>
          <a:p>
            <a:pPr indent="0" marL="0">
              <a:lnSpc>
                <a:spcPct val="110000"/>
              </a:lnSpc>
              <a:buNone/>
            </a:pPr>
            <a:r>
              <a:rPr lang="en-US" sz="2700" b="1" i="1" dirty="0">
                <a:solidFill>
                  <a:srgbClr val="FFFFFF"/>
                </a:solidFill>
                <a:latin typeface="Playfair Display" pitchFamily="34" charset="0"/>
                <a:ea typeface="Playfair Display" pitchFamily="34" charset="-122"/>
                <a:cs typeface="Playfair Display" pitchFamily="34" charset="-120"/>
              </a:rPr>
              <a:t>Every channel.</a:t>
            </a:r>
            <a:endParaRPr lang="en-US" sz="2700" dirty="0"/>
          </a:p>
          <a:p>
            <a:pPr indent="0" marL="0">
              <a:lnSpc>
                <a:spcPct val="110000"/>
              </a:lnSpc>
              <a:buNone/>
            </a:pPr>
            <a:r>
              <a:rPr lang="en-US" sz="2700" b="1" i="1" dirty="0">
                <a:solidFill>
                  <a:srgbClr val="FFFFFF"/>
                </a:solidFill>
                <a:latin typeface="Playfair Display" pitchFamily="34" charset="0"/>
                <a:ea typeface="Playfair Display" pitchFamily="34" charset="-122"/>
                <a:cs typeface="Playfair Display" pitchFamily="34" charset="-120"/>
              </a:rPr>
              <a:t>One system.</a:t>
            </a:r>
            <a:endParaRPr lang="en-US" sz="2700" dirty="0"/>
          </a:p>
          <a:p>
            <a:pPr indent="0" marL="0">
              <a:lnSpc>
                <a:spcPct val="110000"/>
              </a:lnSpc>
              <a:buNone/>
            </a:pPr>
            <a:r>
              <a:rPr lang="en-US" sz="2700" b="1" i="1" dirty="0">
                <a:solidFill>
                  <a:srgbClr val="9D8CF0"/>
                </a:solidFill>
                <a:latin typeface="Playfair Display" pitchFamily="34" charset="0"/>
                <a:ea typeface="Playfair Display" pitchFamily="34" charset="-122"/>
                <a:cs typeface="Playfair Display" pitchFamily="34" charset="-120"/>
              </a:rPr>
              <a:t>One answer.</a:t>
            </a:r>
            <a:endParaRPr lang="en-US" sz="2700" dirty="0"/>
          </a:p>
        </p:txBody>
      </p:sp>
      <p:sp>
        <p:nvSpPr>
          <p:cNvPr id="8" name="Text 5"/>
          <p:cNvSpPr/>
          <p:nvPr/>
        </p:nvSpPr>
        <p:spPr>
          <a:xfrm>
            <a:off x="7772400" y="4297680"/>
            <a:ext cx="4389120" cy="1463040"/>
          </a:xfrm>
          <a:prstGeom prst="rect">
            <a:avLst/>
          </a:prstGeom>
          <a:noFill/>
          <a:ln/>
        </p:spPr>
        <p:txBody>
          <a:bodyPr wrap="square" lIns="0" tIns="0" rIns="0" bIns="0" rtlCol="0" anchor="ctr"/>
          <a:lstStyle/>
          <a:p>
            <a:pPr indent="0" marL="0">
              <a:lnSpc>
                <a:spcPct val="115000"/>
              </a:lnSpc>
              <a:buNone/>
            </a:pPr>
            <a:r>
              <a:rPr lang="en-US" sz="1600" b="1" dirty="0">
                <a:solidFill>
                  <a:srgbClr val="FFFFFF"/>
                </a:solidFill>
                <a:latin typeface="Poppins" pitchFamily="34" charset="0"/>
                <a:ea typeface="Poppins" pitchFamily="34" charset="-122"/>
                <a:cs typeface="Poppins" pitchFamily="34" charset="-120"/>
              </a:rPr>
              <a:t>What's working. What's not.</a:t>
            </a:r>
            <a:endParaRPr lang="en-US" sz="1600" dirty="0"/>
          </a:p>
          <a:p>
            <a:pPr indent="0" marL="0">
              <a:lnSpc>
                <a:spcPct val="115000"/>
              </a:lnSpc>
              <a:buNone/>
            </a:pPr>
            <a:r>
              <a:rPr lang="en-US" sz="1600" b="1" dirty="0">
                <a:solidFill>
                  <a:srgbClr val="FFFFFF"/>
                </a:solidFill>
                <a:latin typeface="Poppins" pitchFamily="34" charset="0"/>
                <a:ea typeface="Poppins" pitchFamily="34" charset="-122"/>
                <a:cs typeface="Poppins" pitchFamily="34" charset="-120"/>
              </a:rPr>
              <a:t>What to scale. What to cut.</a:t>
            </a:r>
            <a:endParaRPr lang="en-US" sz="1600" dirty="0"/>
          </a:p>
          <a:p>
            <a:pPr indent="0" marL="0">
              <a:lnSpc>
                <a:spcPct val="115000"/>
              </a:lnSpc>
              <a:buNone/>
            </a:pPr>
            <a:r>
              <a:rPr lang="en-US" sz="1600" dirty="0">
                <a:solidFill>
                  <a:srgbClr val="A89BD4"/>
                </a:solidFill>
                <a:latin typeface="Poppins" pitchFamily="34" charset="0"/>
                <a:ea typeface="Poppins" pitchFamily="34" charset="-122"/>
                <a:cs typeface="Poppins" pitchFamily="34" charset="-120"/>
              </a:rPr>
              <a:t>In seconds.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710"/>
        </a:solidFill>
      </p:bgPr>
    </p:bg>
    <p:spTree>
      <p:nvGrpSpPr>
        <p:cNvPr id="1" name=""/>
        <p:cNvGrpSpPr/>
        <p:nvPr/>
      </p:nvGrpSpPr>
      <p:grpSpPr>
        <a:xfrm>
          <a:off x="0" y="0"/>
          <a:ext cx="0" cy="0"/>
          <a:chOff x="0" y="0"/>
          <a:chExt cx="0" cy="0"/>
        </a:xfrm>
      </p:grpSpPr>
      <p:sp>
        <p:nvSpPr>
          <p:cNvPr id="2" name="Shape 0"/>
          <p:cNvSpPr/>
          <p:nvPr/>
        </p:nvSpPr>
        <p:spPr>
          <a:xfrm>
            <a:off x="3017520" y="1097280"/>
            <a:ext cx="6126480" cy="4206240"/>
          </a:xfrm>
          <a:prstGeom prst="ellipse">
            <a:avLst/>
          </a:prstGeom>
          <a:solidFill>
            <a:srgbClr val="7B3BE9">
              <a:alpha val="14000"/>
            </a:srgbClr>
          </a:solidFill>
          <a:ln/>
        </p:spPr>
      </p:sp>
      <p:sp>
        <p:nvSpPr>
          <p:cNvPr id="3" name="Text 1"/>
          <p:cNvSpPr/>
          <p:nvPr/>
        </p:nvSpPr>
        <p:spPr>
          <a:xfrm>
            <a:off x="914400" y="2377440"/>
            <a:ext cx="10332720" cy="1097280"/>
          </a:xfrm>
          <a:prstGeom prst="rect">
            <a:avLst/>
          </a:prstGeom>
          <a:noFill/>
          <a:ln/>
        </p:spPr>
        <p:txBody>
          <a:bodyPr wrap="square" lIns="0" tIns="0" rIns="0" bIns="0" rtlCol="0" anchor="ctr"/>
          <a:lstStyle/>
          <a:p>
            <a:pPr algn="ctr" indent="0" marL="0">
              <a:buNone/>
            </a:pPr>
            <a:r>
              <a:rPr lang="en-US" sz="4600" b="1" i="1" dirty="0">
                <a:solidFill>
                  <a:srgbClr val="FFFFFF"/>
                </a:solidFill>
                <a:latin typeface="Playfair Display" pitchFamily="34" charset="0"/>
                <a:ea typeface="Playfair Display" pitchFamily="34" charset="-122"/>
                <a:cs typeface="Playfair Display" pitchFamily="34" charset="-120"/>
              </a:rPr>
              <a:t>Your data is a mess? </a:t>
            </a:r>
            <a:pPr algn="ctr" indent="0" marL="0">
              <a:buNone/>
            </a:pPr>
            <a:r>
              <a:rPr lang="en-US" sz="4600" b="1" i="1" dirty="0">
                <a:solidFill>
                  <a:srgbClr val="9D8CF0"/>
                </a:solidFill>
                <a:latin typeface="Playfair Display" pitchFamily="34" charset="0"/>
                <a:ea typeface="Playfair Display" pitchFamily="34" charset="-122"/>
                <a:cs typeface="Playfair Display" pitchFamily="34" charset="-120"/>
              </a:rPr>
              <a:t>Good.</a:t>
            </a:r>
            <a:endParaRPr lang="en-US" sz="4600" dirty="0"/>
          </a:p>
        </p:txBody>
      </p:sp>
      <p:sp>
        <p:nvSpPr>
          <p:cNvPr id="4" name="Text 2"/>
          <p:cNvSpPr/>
          <p:nvPr/>
        </p:nvSpPr>
        <p:spPr>
          <a:xfrm>
            <a:off x="2194560" y="3657600"/>
            <a:ext cx="7772400" cy="1097280"/>
          </a:xfrm>
          <a:prstGeom prst="rect">
            <a:avLst/>
          </a:prstGeom>
          <a:noFill/>
          <a:ln/>
        </p:spPr>
        <p:txBody>
          <a:bodyPr wrap="square" lIns="0" tIns="0" rIns="0" bIns="0" rtlCol="0" anchor="ctr"/>
          <a:lstStyle/>
          <a:p>
            <a:pPr algn="ctr" indent="0" marL="0">
              <a:lnSpc>
                <a:spcPct val="120000"/>
              </a:lnSpc>
              <a:buNone/>
            </a:pPr>
            <a:r>
              <a:rPr lang="en-US" sz="1600" dirty="0">
                <a:solidFill>
                  <a:srgbClr val="CFC4F0"/>
                </a:solidFill>
                <a:latin typeface="Poppins" pitchFamily="34" charset="0"/>
                <a:ea typeface="Poppins" pitchFamily="34" charset="-122"/>
                <a:cs typeface="Poppins" pitchFamily="34" charset="-120"/>
              </a:rPr>
              <a:t>If your data were clean, you wouldn't need us. Untangling it is day one of the engagement, not a prerequisite. We have never met clean data.</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A"/>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400" kern="0" dirty="0">
                <a:solidFill>
                  <a:srgbClr val="6C2FE0"/>
                </a:solidFill>
                <a:latin typeface="Poppins" pitchFamily="34" charset="0"/>
                <a:ea typeface="Poppins" pitchFamily="34" charset="-122"/>
                <a:cs typeface="Poppins" pitchFamily="34" charset="-120"/>
              </a:rPr>
              <a:t>WHERE YOU ARE VS. WHERE YOU NEED TO BE</a:t>
            </a:r>
            <a:endParaRPr lang="en-US" sz="1200" dirty="0"/>
          </a:p>
        </p:txBody>
      </p:sp>
      <p:sp>
        <p:nvSpPr>
          <p:cNvPr id="3" name="Text 1"/>
          <p:cNvSpPr/>
          <p:nvPr/>
        </p:nvSpPr>
        <p:spPr>
          <a:xfrm>
            <a:off x="640080" y="868680"/>
            <a:ext cx="10972800" cy="731520"/>
          </a:xfrm>
          <a:prstGeom prst="rect">
            <a:avLst/>
          </a:prstGeom>
          <a:noFill/>
          <a:ln/>
        </p:spPr>
        <p:txBody>
          <a:bodyPr wrap="square" lIns="0" tIns="0" rIns="0" bIns="0" rtlCol="0" anchor="ctr"/>
          <a:lstStyle/>
          <a:p>
            <a:pPr indent="0" marL="0">
              <a:buNone/>
            </a:pPr>
            <a:r>
              <a:rPr lang="en-US" sz="3300" b="1" dirty="0">
                <a:solidFill>
                  <a:srgbClr val="16121F"/>
                </a:solidFill>
                <a:latin typeface="Playfair Display" pitchFamily="34" charset="0"/>
                <a:ea typeface="Playfair Display" pitchFamily="34" charset="-122"/>
                <a:cs typeface="Playfair Display" pitchFamily="34" charset="-120"/>
              </a:rPr>
              <a:t>Paid media is the entry point</a:t>
            </a:r>
            <a:pPr indent="0" marL="0">
              <a:buNone/>
            </a:pPr>
            <a:r>
              <a:rPr lang="en-US" sz="3300" b="1" dirty="0">
                <a:solidFill>
                  <a:srgbClr val="7B3BE9"/>
                </a:solidFill>
                <a:latin typeface="Playfair Display" pitchFamily="34" charset="0"/>
                <a:ea typeface="Playfair Display" pitchFamily="34" charset="-122"/>
                <a:cs typeface="Playfair Display" pitchFamily="34" charset="-120"/>
              </a:rPr>
              <a:t>. </a:t>
            </a:r>
            <a:pPr indent="0" marL="0">
              <a:buNone/>
            </a:pPr>
            <a:r>
              <a:rPr lang="en-US" sz="3300" b="1" dirty="0">
                <a:solidFill>
                  <a:srgbClr val="16121F"/>
                </a:solidFill>
                <a:latin typeface="Playfair Display" pitchFamily="34" charset="0"/>
                <a:ea typeface="Playfair Display" pitchFamily="34" charset="-122"/>
                <a:cs typeface="Playfair Display" pitchFamily="34" charset="-120"/>
              </a:rPr>
              <a:t>Not the ceiling</a:t>
            </a:r>
            <a:pPr indent="0" marL="0">
              <a:buNone/>
            </a:pPr>
            <a:r>
              <a:rPr lang="en-US" sz="3300" b="1" dirty="0">
                <a:solidFill>
                  <a:srgbClr val="7B3BE9"/>
                </a:solidFill>
                <a:latin typeface="Playfair Display" pitchFamily="34" charset="0"/>
                <a:ea typeface="Playfair Display" pitchFamily="34" charset="-122"/>
                <a:cs typeface="Playfair Display" pitchFamily="34" charset="-120"/>
              </a:rPr>
              <a:t>.</a:t>
            </a:r>
            <a:endParaRPr lang="en-US" sz="3300" dirty="0"/>
          </a:p>
        </p:txBody>
      </p:sp>
      <p:sp>
        <p:nvSpPr>
          <p:cNvPr id="4" name="Shape 2"/>
          <p:cNvSpPr/>
          <p:nvPr/>
        </p:nvSpPr>
        <p:spPr>
          <a:xfrm>
            <a:off x="640080" y="1874520"/>
            <a:ext cx="2624328" cy="3657600"/>
          </a:xfrm>
          <a:prstGeom prst="roundRect">
            <a:avLst>
              <a:gd name="adj" fmla="val 2091"/>
            </a:avLst>
          </a:prstGeom>
          <a:solidFill>
            <a:srgbClr val="241F31"/>
          </a:solidFill>
          <a:ln w="12700">
            <a:solidFill>
              <a:srgbClr val="3A3450"/>
            </a:solidFill>
            <a:prstDash val="solid"/>
          </a:ln>
          <a:effectLst>
            <a:outerShdw sx="100000" sy="100000" kx="0" ky="0" algn="bl" rotWithShape="0" blurRad="114300" dist="38100" dir="5400000">
              <a:srgbClr val="000000">
                <a:alpha val="18000"/>
              </a:srgbClr>
            </a:outerShdw>
          </a:effectLst>
        </p:spPr>
      </p:sp>
      <p:sp>
        <p:nvSpPr>
          <p:cNvPr id="5" name="Text 3"/>
          <p:cNvSpPr/>
          <p:nvPr/>
        </p:nvSpPr>
        <p:spPr>
          <a:xfrm>
            <a:off x="868680" y="2075688"/>
            <a:ext cx="2167128" cy="274320"/>
          </a:xfrm>
          <a:prstGeom prst="rect">
            <a:avLst>
              <a:gd name="adj" fmla="val 33333"/>
            </a:avLst>
          </a:prstGeom>
          <a:solidFill>
            <a:srgbClr val="4D4763"/>
          </a:solidFill>
          <a:ln/>
        </p:spPr>
        <p:txBody>
          <a:bodyPr wrap="square" lIns="25400" tIns="25400" rIns="25400" bIns="25400" rtlCol="0" anchor="ctr"/>
          <a:lstStyle/>
          <a:p>
            <a:pPr algn="ctr" indent="0" marL="0">
              <a:buNone/>
            </a:pPr>
            <a:r>
              <a:rPr lang="en-US" sz="950" b="1" spc="150" kern="0" dirty="0">
                <a:solidFill>
                  <a:srgbClr val="FFFFFF"/>
                </a:solidFill>
                <a:latin typeface="Poppins" pitchFamily="34" charset="0"/>
                <a:ea typeface="Poppins" pitchFamily="34" charset="-122"/>
                <a:cs typeface="Poppins" pitchFamily="34" charset="-120"/>
              </a:rPr>
              <a:t>YOU ARE HERE</a:t>
            </a:r>
            <a:endParaRPr lang="en-US" sz="950" dirty="0"/>
          </a:p>
        </p:txBody>
      </p:sp>
      <p:sp>
        <p:nvSpPr>
          <p:cNvPr id="6" name="Text 4"/>
          <p:cNvSpPr/>
          <p:nvPr/>
        </p:nvSpPr>
        <p:spPr>
          <a:xfrm>
            <a:off x="868680" y="2496312"/>
            <a:ext cx="2167128" cy="640080"/>
          </a:xfrm>
          <a:prstGeom prst="rect">
            <a:avLst/>
          </a:prstGeom>
          <a:noFill/>
          <a:ln/>
        </p:spPr>
        <p:txBody>
          <a:bodyPr wrap="square" lIns="0" tIns="0" rIns="0" bIns="0" rtlCol="0" anchor="ctr"/>
          <a:lstStyle/>
          <a:p>
            <a:pPr indent="0" marL="0">
              <a:buNone/>
            </a:pPr>
            <a:r>
              <a:rPr lang="en-US" sz="1700" b="1" i="1" dirty="0">
                <a:solidFill>
                  <a:srgbClr val="E8E4F4"/>
                </a:solidFill>
                <a:latin typeface="Playfair Display" pitchFamily="34" charset="0"/>
                <a:ea typeface="Playfair Display" pitchFamily="34" charset="-122"/>
                <a:cs typeface="Playfair Display" pitchFamily="34" charset="-120"/>
              </a:rPr>
              <a:t>Legacy Paid Media</a:t>
            </a:r>
            <a:endParaRPr lang="en-US" sz="1700" dirty="0"/>
          </a:p>
        </p:txBody>
      </p:sp>
      <p:sp>
        <p:nvSpPr>
          <p:cNvPr id="7" name="Text 5"/>
          <p:cNvSpPr/>
          <p:nvPr/>
        </p:nvSpPr>
        <p:spPr>
          <a:xfrm>
            <a:off x="896112" y="3246120"/>
            <a:ext cx="2167128" cy="2103120"/>
          </a:xfrm>
          <a:prstGeom prst="rect">
            <a:avLst/>
          </a:prstGeom>
          <a:noFill/>
          <a:ln/>
        </p:spPr>
        <p:txBody>
          <a:bodyPr wrap="square" lIns="0" tIns="0" rIns="0" bIns="0" rtlCol="0" anchor="ctr"/>
          <a:lstStyle/>
          <a:p>
            <a:pPr marL="152400" indent="-152400">
              <a:lnSpc>
                <a:spcPct val="105000"/>
              </a:lnSpc>
              <a:spcAft>
                <a:spcPts val="800"/>
              </a:spcAft>
              <a:buSzPct val="100000"/>
              <a:buChar char="•"/>
            </a:pPr>
            <a:r>
              <a:rPr lang="en-US" sz="1150" dirty="0">
                <a:solidFill>
                  <a:srgbClr val="B6B0C8"/>
                </a:solidFill>
                <a:latin typeface="Poppins" pitchFamily="34" charset="0"/>
                <a:ea typeface="Poppins" pitchFamily="34" charset="-122"/>
                <a:cs typeface="Poppins" pitchFamily="34" charset="-120"/>
              </a:rPr>
              <a:t>Every platform reports its own truth, and you stitch it together.</a:t>
            </a:r>
            <a:endParaRPr lang="en-US" sz="1150" dirty="0"/>
          </a:p>
          <a:p>
            <a:pPr marL="152400" indent="-152400">
              <a:lnSpc>
                <a:spcPct val="105000"/>
              </a:lnSpc>
              <a:spcAft>
                <a:spcPts val="800"/>
              </a:spcAft>
              <a:buSzPct val="100000"/>
              <a:buChar char="•"/>
            </a:pPr>
            <a:r>
              <a:rPr lang="en-US" sz="1150" dirty="0">
                <a:solidFill>
                  <a:srgbClr val="B6B0C8"/>
                </a:solidFill>
                <a:latin typeface="Poppins" pitchFamily="34" charset="0"/>
                <a:ea typeface="Poppins" pitchFamily="34" charset="-122"/>
                <a:cs typeface="Poppins" pitchFamily="34" charset="-120"/>
              </a:rPr>
              <a:t>Scaling calls made on gut feel.</a:t>
            </a:r>
            <a:endParaRPr lang="en-US" sz="1150" dirty="0"/>
          </a:p>
          <a:p>
            <a:pPr marL="152400" indent="-152400">
              <a:lnSpc>
                <a:spcPct val="105000"/>
              </a:lnSpc>
              <a:spcAft>
                <a:spcPts val="800"/>
              </a:spcAft>
              <a:buSzPct val="100000"/>
              <a:buChar char="•"/>
            </a:pPr>
            <a:r>
              <a:rPr lang="en-US" sz="1150" dirty="0">
                <a:solidFill>
                  <a:srgbClr val="B6B0C8"/>
                </a:solidFill>
                <a:latin typeface="Poppins" pitchFamily="34" charset="0"/>
                <a:ea typeface="Poppins" pitchFamily="34" charset="-122"/>
                <a:cs typeface="Poppins" pitchFamily="34" charset="-120"/>
              </a:rPr>
              <a:t>Black-box agency fees that grow as you spend.</a:t>
            </a:r>
            <a:endParaRPr lang="en-US" sz="1150" dirty="0"/>
          </a:p>
        </p:txBody>
      </p:sp>
      <p:sp>
        <p:nvSpPr>
          <p:cNvPr id="8" name="Shape 6"/>
          <p:cNvSpPr/>
          <p:nvPr/>
        </p:nvSpPr>
        <p:spPr>
          <a:xfrm>
            <a:off x="3429000" y="1737360"/>
            <a:ext cx="2624328" cy="3931920"/>
          </a:xfrm>
          <a:prstGeom prst="roundRect">
            <a:avLst>
              <a:gd name="adj" fmla="val 2091"/>
            </a:avLst>
          </a:prstGeom>
          <a:solidFill>
            <a:srgbClr val="FFFFFF"/>
          </a:solidFill>
          <a:ln w="31750">
            <a:solidFill>
              <a:srgbClr val="7B3BE9"/>
            </a:solidFill>
            <a:prstDash val="solid"/>
          </a:ln>
          <a:effectLst>
            <a:outerShdw sx="100000" sy="100000" kx="0" ky="0" algn="bl" rotWithShape="0" blurRad="114300" dist="38100" dir="5400000">
              <a:srgbClr val="000000">
                <a:alpha val="18000"/>
              </a:srgbClr>
            </a:outerShdw>
          </a:effectLst>
        </p:spPr>
      </p:sp>
      <p:sp>
        <p:nvSpPr>
          <p:cNvPr id="9" name="Text 7"/>
          <p:cNvSpPr/>
          <p:nvPr/>
        </p:nvSpPr>
        <p:spPr>
          <a:xfrm>
            <a:off x="3630168" y="1947672"/>
            <a:ext cx="2221992" cy="292608"/>
          </a:xfrm>
          <a:prstGeom prst="rect">
            <a:avLst>
              <a:gd name="adj" fmla="val 37500"/>
            </a:avLst>
          </a:prstGeom>
          <a:solidFill>
            <a:srgbClr val="7B3BE9"/>
          </a:solidFill>
          <a:ln/>
        </p:spPr>
        <p:txBody>
          <a:bodyPr wrap="square" lIns="25400" tIns="25400" rIns="25400" bIns="25400" rtlCol="0" anchor="ctr"/>
          <a:lstStyle/>
          <a:p>
            <a:pPr algn="ctr" indent="0" marL="0">
              <a:buNone/>
            </a:pPr>
            <a:r>
              <a:rPr lang="en-US" sz="950" b="1" spc="100" kern="0" dirty="0">
                <a:solidFill>
                  <a:srgbClr val="FFFFFF"/>
                </a:solidFill>
                <a:latin typeface="Poppins" pitchFamily="34" charset="0"/>
                <a:ea typeface="Poppins" pitchFamily="34" charset="-122"/>
                <a:cs typeface="Poppins" pitchFamily="34" charset="-120"/>
              </a:rPr>
              <a:t>YOU NEED TO BE HERE</a:t>
            </a:r>
            <a:endParaRPr lang="en-US" sz="950" dirty="0"/>
          </a:p>
        </p:txBody>
      </p:sp>
      <p:sp>
        <p:nvSpPr>
          <p:cNvPr id="10" name="Text 8"/>
          <p:cNvSpPr/>
          <p:nvPr/>
        </p:nvSpPr>
        <p:spPr>
          <a:xfrm>
            <a:off x="3657600" y="2377440"/>
            <a:ext cx="2167128" cy="640080"/>
          </a:xfrm>
          <a:prstGeom prst="rect">
            <a:avLst/>
          </a:prstGeom>
          <a:noFill/>
          <a:ln/>
        </p:spPr>
        <p:txBody>
          <a:bodyPr wrap="square" lIns="0" tIns="0" rIns="0" bIns="0" rtlCol="0" anchor="ctr"/>
          <a:lstStyle/>
          <a:p>
            <a:pPr indent="0" marL="0">
              <a:buNone/>
            </a:pPr>
            <a:r>
              <a:rPr lang="en-US" sz="1800" b="1" i="1" dirty="0">
                <a:solidFill>
                  <a:srgbClr val="6C2FE0"/>
                </a:solidFill>
                <a:latin typeface="Playfair Display" pitchFamily="34" charset="0"/>
                <a:ea typeface="Playfair Display" pitchFamily="34" charset="-122"/>
                <a:cs typeface="Playfair Display" pitchFamily="34" charset="-120"/>
              </a:rPr>
              <a:t>DISTRIKT Paid Media</a:t>
            </a:r>
            <a:endParaRPr lang="en-US" sz="1800" dirty="0"/>
          </a:p>
        </p:txBody>
      </p:sp>
      <p:sp>
        <p:nvSpPr>
          <p:cNvPr id="11" name="Text 9"/>
          <p:cNvSpPr/>
          <p:nvPr/>
        </p:nvSpPr>
        <p:spPr>
          <a:xfrm>
            <a:off x="3657600" y="2971800"/>
            <a:ext cx="2167128" cy="228600"/>
          </a:xfrm>
          <a:prstGeom prst="rect">
            <a:avLst/>
          </a:prstGeom>
          <a:noFill/>
          <a:ln/>
        </p:spPr>
        <p:txBody>
          <a:bodyPr wrap="square" lIns="0" tIns="0" rIns="0" bIns="0" rtlCol="0" anchor="ctr"/>
          <a:lstStyle/>
          <a:p>
            <a:pPr indent="0" marL="0">
              <a:buNone/>
            </a:pPr>
            <a:r>
              <a:rPr lang="en-US" sz="850" b="1" spc="100" kern="0" dirty="0">
                <a:solidFill>
                  <a:srgbClr val="8D84A8"/>
                </a:solidFill>
                <a:latin typeface="Poppins" pitchFamily="34" charset="0"/>
                <a:ea typeface="Poppins" pitchFamily="34" charset="-122"/>
                <a:cs typeface="Poppins" pitchFamily="34" charset="-120"/>
              </a:rPr>
              <a:t>POWERED BY KNVRT</a:t>
            </a:r>
            <a:endParaRPr lang="en-US" sz="850" dirty="0"/>
          </a:p>
        </p:txBody>
      </p:sp>
      <p:sp>
        <p:nvSpPr>
          <p:cNvPr id="12" name="Text 10"/>
          <p:cNvSpPr/>
          <p:nvPr/>
        </p:nvSpPr>
        <p:spPr>
          <a:xfrm>
            <a:off x="3657600" y="3246120"/>
            <a:ext cx="2167128" cy="365760"/>
          </a:xfrm>
          <a:prstGeom prst="rect">
            <a:avLst/>
          </a:prstGeom>
          <a:noFill/>
          <a:ln/>
        </p:spPr>
        <p:txBody>
          <a:bodyPr wrap="square" lIns="0" tIns="0" rIns="0" bIns="0" rtlCol="0" anchor="ctr"/>
          <a:lstStyle/>
          <a:p>
            <a:pPr indent="0" marL="0">
              <a:buNone/>
            </a:pPr>
            <a:r>
              <a:rPr lang="en-US" sz="1500" b="1" i="1" dirty="0">
                <a:solidFill>
                  <a:srgbClr val="6C2FE0"/>
                </a:solidFill>
                <a:latin typeface="Playfair Display" pitchFamily="34" charset="0"/>
                <a:ea typeface="Playfair Display" pitchFamily="34" charset="-122"/>
                <a:cs typeface="Playfair Display" pitchFamily="34" charset="-120"/>
              </a:rPr>
              <a:t>Finally see what to scale.</a:t>
            </a:r>
            <a:endParaRPr lang="en-US" sz="1500" dirty="0"/>
          </a:p>
        </p:txBody>
      </p:sp>
      <p:sp>
        <p:nvSpPr>
          <p:cNvPr id="13" name="Text 11"/>
          <p:cNvSpPr/>
          <p:nvPr/>
        </p:nvSpPr>
        <p:spPr>
          <a:xfrm>
            <a:off x="3657600" y="3703320"/>
            <a:ext cx="2167128" cy="320040"/>
          </a:xfrm>
          <a:prstGeom prst="rect">
            <a:avLst/>
          </a:prstGeom>
          <a:noFill/>
          <a:ln/>
        </p:spPr>
        <p:txBody>
          <a:bodyPr wrap="square" lIns="0" tIns="0" rIns="0" bIns="0" rtlCol="0" anchor="ctr"/>
          <a:lstStyle/>
          <a:p>
            <a:pPr indent="0" marL="0">
              <a:buNone/>
            </a:pPr>
            <a:r>
              <a:rPr lang="en-US" sz="1800" b="1" dirty="0">
                <a:solidFill>
                  <a:srgbClr val="6C2FE0"/>
                </a:solidFill>
                <a:latin typeface="Playfair Display" pitchFamily="34" charset="0"/>
                <a:ea typeface="Playfair Display" pitchFamily="34" charset="-122"/>
                <a:cs typeface="Playfair Display" pitchFamily="34" charset="-120"/>
              </a:rPr>
              <a:t>$0</a:t>
            </a:r>
            <a:pPr indent="0" marL="0">
              <a:buNone/>
            </a:pPr>
            <a:r>
              <a:rPr lang="en-US" sz="1100" dirty="0">
                <a:solidFill>
                  <a:srgbClr val="453D5C"/>
                </a:solidFill>
              </a:rPr>
              <a:t>  in management fees</a:t>
            </a:r>
            <a:endParaRPr lang="en-US" sz="1800" dirty="0"/>
          </a:p>
        </p:txBody>
      </p:sp>
      <p:sp>
        <p:nvSpPr>
          <p:cNvPr id="14" name="Text 12"/>
          <p:cNvSpPr/>
          <p:nvPr/>
        </p:nvSpPr>
        <p:spPr>
          <a:xfrm>
            <a:off x="3657600" y="4069080"/>
            <a:ext cx="2167128" cy="320040"/>
          </a:xfrm>
          <a:prstGeom prst="rect">
            <a:avLst/>
          </a:prstGeom>
          <a:noFill/>
          <a:ln/>
        </p:spPr>
        <p:txBody>
          <a:bodyPr wrap="square" lIns="0" tIns="0" rIns="0" bIns="0" rtlCol="0" anchor="ctr"/>
          <a:lstStyle/>
          <a:p>
            <a:pPr indent="0" marL="0">
              <a:buNone/>
            </a:pPr>
            <a:r>
              <a:rPr lang="en-US" sz="1800" b="1" dirty="0">
                <a:solidFill>
                  <a:srgbClr val="6C2FE0"/>
                </a:solidFill>
                <a:latin typeface="Playfair Display" pitchFamily="34" charset="0"/>
                <a:ea typeface="Playfair Display" pitchFamily="34" charset="-122"/>
                <a:cs typeface="Playfair Display" pitchFamily="34" charset="-120"/>
              </a:rPr>
              <a:t>$0</a:t>
            </a:r>
            <a:pPr indent="0" marL="0">
              <a:buNone/>
            </a:pPr>
            <a:r>
              <a:rPr lang="en-US" sz="1100" dirty="0">
                <a:solidFill>
                  <a:srgbClr val="453D5C"/>
                </a:solidFill>
              </a:rPr>
              <a:t>  in markups</a:t>
            </a:r>
            <a:endParaRPr lang="en-US" sz="1800" dirty="0"/>
          </a:p>
        </p:txBody>
      </p:sp>
      <p:sp>
        <p:nvSpPr>
          <p:cNvPr id="15" name="Text 13"/>
          <p:cNvSpPr/>
          <p:nvPr/>
        </p:nvSpPr>
        <p:spPr>
          <a:xfrm>
            <a:off x="3685032" y="4526280"/>
            <a:ext cx="2167128" cy="1188720"/>
          </a:xfrm>
          <a:prstGeom prst="rect">
            <a:avLst/>
          </a:prstGeom>
          <a:noFill/>
          <a:ln/>
        </p:spPr>
        <p:txBody>
          <a:bodyPr wrap="square" lIns="0" tIns="0" rIns="0" bIns="0" rtlCol="0" anchor="ctr"/>
          <a:lstStyle/>
          <a:p>
            <a:pPr marL="152400" indent="-152400">
              <a:lnSpc>
                <a:spcPct val="105000"/>
              </a:lnSpc>
              <a:spcAft>
                <a:spcPts val="800"/>
              </a:spcAft>
              <a:buSzPct val="100000"/>
              <a:buChar char="•"/>
            </a:pPr>
            <a:r>
              <a:rPr lang="en-US" sz="1150" dirty="0">
                <a:solidFill>
                  <a:srgbClr val="453D5C"/>
                </a:solidFill>
                <a:latin typeface="Poppins" pitchFamily="34" charset="0"/>
                <a:ea typeface="Poppins" pitchFamily="34" charset="-122"/>
                <a:cs typeface="Poppins" pitchFamily="34" charset="-120"/>
              </a:rPr>
              <a:t>Every dollar streams into one intelligence layer, daily.</a:t>
            </a:r>
            <a:endParaRPr lang="en-US" sz="1150" dirty="0"/>
          </a:p>
          <a:p>
            <a:pPr marL="152400" indent="-152400">
              <a:lnSpc>
                <a:spcPct val="105000"/>
              </a:lnSpc>
              <a:spcAft>
                <a:spcPts val="800"/>
              </a:spcAft>
              <a:buSzPct val="100000"/>
              <a:buChar char="•"/>
            </a:pPr>
            <a:r>
              <a:rPr lang="en-US" sz="1150" dirty="0">
                <a:solidFill>
                  <a:srgbClr val="453D5C"/>
                </a:solidFill>
                <a:latin typeface="Poppins" pitchFamily="34" charset="0"/>
                <a:ea typeface="Poppins" pitchFamily="34" charset="-122"/>
                <a:cs typeface="Poppins" pitchFamily="34" charset="-120"/>
              </a:rPr>
              <a:t>Humans make every change by hand. No black boxes.</a:t>
            </a:r>
            <a:endParaRPr lang="en-US" sz="1150" dirty="0"/>
          </a:p>
        </p:txBody>
      </p:sp>
      <p:sp>
        <p:nvSpPr>
          <p:cNvPr id="16" name="Shape 14"/>
          <p:cNvSpPr/>
          <p:nvPr/>
        </p:nvSpPr>
        <p:spPr>
          <a:xfrm>
            <a:off x="6217920" y="2194560"/>
            <a:ext cx="2624328" cy="3017520"/>
          </a:xfrm>
          <a:prstGeom prst="roundRect">
            <a:avLst>
              <a:gd name="adj" fmla="val 2091"/>
            </a:avLst>
          </a:prstGeom>
          <a:solidFill>
            <a:srgbClr val="FFFFFF">
              <a:alpha val="55000"/>
            </a:srgbClr>
          </a:solidFill>
          <a:ln w="12700">
            <a:solidFill>
              <a:srgbClr val="C4BADE"/>
            </a:solidFill>
            <a:prstDash val="dash"/>
          </a:ln>
        </p:spPr>
      </p:sp>
      <p:sp>
        <p:nvSpPr>
          <p:cNvPr id="17" name="Text 15"/>
          <p:cNvSpPr/>
          <p:nvPr/>
        </p:nvSpPr>
        <p:spPr>
          <a:xfrm>
            <a:off x="6419088" y="2377440"/>
            <a:ext cx="1188720" cy="274320"/>
          </a:xfrm>
          <a:prstGeom prst="rect">
            <a:avLst>
              <a:gd name="adj" fmla="val 33333"/>
            </a:avLst>
          </a:prstGeom>
          <a:noFill/>
          <a:ln w="12700">
            <a:solidFill>
              <a:srgbClr val="B9AEDE"/>
            </a:solidFill>
          </a:ln>
        </p:spPr>
        <p:txBody>
          <a:bodyPr wrap="square" lIns="38100" tIns="38100" rIns="38100" bIns="38100" rtlCol="0" anchor="ctr"/>
          <a:lstStyle/>
          <a:p>
            <a:pPr algn="ctr" indent="0" marL="0">
              <a:buNone/>
            </a:pPr>
            <a:r>
              <a:rPr lang="en-US" sz="900" b="1" spc="100" kern="0" dirty="0">
                <a:solidFill>
                  <a:srgbClr val="8D84A8"/>
                </a:solidFill>
                <a:latin typeface="Poppins" pitchFamily="34" charset="0"/>
                <a:ea typeface="Poppins" pitchFamily="34" charset="-122"/>
                <a:cs typeface="Poppins" pitchFamily="34" charset="-120"/>
              </a:rPr>
              <a:t>NEXT</a:t>
            </a:r>
            <a:endParaRPr lang="en-US" sz="900" dirty="0"/>
          </a:p>
        </p:txBody>
      </p:sp>
      <p:sp>
        <p:nvSpPr>
          <p:cNvPr id="18" name="Text 16"/>
          <p:cNvSpPr/>
          <p:nvPr/>
        </p:nvSpPr>
        <p:spPr>
          <a:xfrm>
            <a:off x="6419088" y="2788920"/>
            <a:ext cx="2221992" cy="640080"/>
          </a:xfrm>
          <a:prstGeom prst="rect">
            <a:avLst/>
          </a:prstGeom>
          <a:noFill/>
          <a:ln/>
        </p:spPr>
        <p:txBody>
          <a:bodyPr wrap="square" lIns="0" tIns="0" rIns="0" bIns="0" rtlCol="0" anchor="ctr"/>
          <a:lstStyle/>
          <a:p>
            <a:pPr indent="0" marL="0">
              <a:buNone/>
            </a:pPr>
            <a:r>
              <a:rPr lang="en-US" sz="1500" b="1" i="1" dirty="0">
                <a:solidFill>
                  <a:srgbClr val="7A68B8"/>
                </a:solidFill>
                <a:latin typeface="Playfair Display" pitchFamily="34" charset="0"/>
                <a:ea typeface="Playfair Display" pitchFamily="34" charset="-122"/>
                <a:cs typeface="Playfair Display" pitchFamily="34" charset="-120"/>
              </a:rPr>
              <a:t>Your Company Brain</a:t>
            </a:r>
            <a:endParaRPr lang="en-US" sz="1500" dirty="0"/>
          </a:p>
        </p:txBody>
      </p:sp>
      <p:sp>
        <p:nvSpPr>
          <p:cNvPr id="19" name="Text 17"/>
          <p:cNvSpPr/>
          <p:nvPr/>
        </p:nvSpPr>
        <p:spPr>
          <a:xfrm>
            <a:off x="6419088" y="3383280"/>
            <a:ext cx="2221992" cy="228600"/>
          </a:xfrm>
          <a:prstGeom prst="rect">
            <a:avLst/>
          </a:prstGeom>
          <a:noFill/>
          <a:ln/>
        </p:spPr>
        <p:txBody>
          <a:bodyPr wrap="square" lIns="0" tIns="0" rIns="0" bIns="0" rtlCol="0" anchor="ctr"/>
          <a:lstStyle/>
          <a:p>
            <a:pPr indent="0" marL="0">
              <a:buNone/>
            </a:pPr>
            <a:r>
              <a:rPr lang="en-US" sz="800" b="1" spc="100" kern="0" dirty="0">
                <a:solidFill>
                  <a:srgbClr val="8D84A8"/>
                </a:solidFill>
                <a:latin typeface="Poppins" pitchFamily="34" charset="0"/>
                <a:ea typeface="Poppins" pitchFamily="34" charset="-122"/>
                <a:cs typeface="Poppins" pitchFamily="34" charset="-120"/>
              </a:rPr>
              <a:t>AN INTELLIGENCE CORE</a:t>
            </a:r>
            <a:endParaRPr lang="en-US" sz="800" dirty="0"/>
          </a:p>
        </p:txBody>
      </p:sp>
      <p:sp>
        <p:nvSpPr>
          <p:cNvPr id="20" name="Text 18"/>
          <p:cNvSpPr/>
          <p:nvPr/>
        </p:nvSpPr>
        <p:spPr>
          <a:xfrm>
            <a:off x="6419088" y="3703320"/>
            <a:ext cx="2221992" cy="1188720"/>
          </a:xfrm>
          <a:prstGeom prst="rect">
            <a:avLst/>
          </a:prstGeom>
          <a:noFill/>
          <a:ln/>
        </p:spPr>
        <p:txBody>
          <a:bodyPr wrap="square" lIns="0" tIns="0" rIns="0" bIns="0" rtlCol="0" anchor="ctr"/>
          <a:lstStyle/>
          <a:p>
            <a:pPr indent="0" marL="0">
              <a:lnSpc>
                <a:spcPct val="110000"/>
              </a:lnSpc>
              <a:buNone/>
            </a:pPr>
            <a:r>
              <a:rPr lang="en-US" sz="1150" dirty="0">
                <a:solidFill>
                  <a:srgbClr val="453D5C"/>
                </a:solidFill>
                <a:latin typeface="Poppins" pitchFamily="34" charset="0"/>
                <a:ea typeface="Poppins" pitchFamily="34" charset="-122"/>
                <a:cs typeface="Poppins" pitchFamily="34" charset="-120"/>
              </a:rPr>
              <a:t>One intelligence layer your whole company works from. Marketing, sales, operations.</a:t>
            </a:r>
            <a:endParaRPr lang="en-US" sz="1150" dirty="0"/>
          </a:p>
        </p:txBody>
      </p:sp>
      <p:sp>
        <p:nvSpPr>
          <p:cNvPr id="21" name="Shape 19"/>
          <p:cNvSpPr/>
          <p:nvPr/>
        </p:nvSpPr>
        <p:spPr>
          <a:xfrm>
            <a:off x="9006840" y="2194560"/>
            <a:ext cx="2624328" cy="3017520"/>
          </a:xfrm>
          <a:prstGeom prst="roundRect">
            <a:avLst>
              <a:gd name="adj" fmla="val 2091"/>
            </a:avLst>
          </a:prstGeom>
          <a:solidFill>
            <a:srgbClr val="FFFFFF">
              <a:alpha val="55000"/>
            </a:srgbClr>
          </a:solidFill>
          <a:ln w="12700">
            <a:solidFill>
              <a:srgbClr val="C4BADE"/>
            </a:solidFill>
            <a:prstDash val="dash"/>
          </a:ln>
        </p:spPr>
      </p:sp>
      <p:sp>
        <p:nvSpPr>
          <p:cNvPr id="22" name="Text 20"/>
          <p:cNvSpPr/>
          <p:nvPr/>
        </p:nvSpPr>
        <p:spPr>
          <a:xfrm>
            <a:off x="9208008" y="2377440"/>
            <a:ext cx="1188720" cy="274320"/>
          </a:xfrm>
          <a:prstGeom prst="rect">
            <a:avLst>
              <a:gd name="adj" fmla="val 33333"/>
            </a:avLst>
          </a:prstGeom>
          <a:noFill/>
          <a:ln w="12700">
            <a:solidFill>
              <a:srgbClr val="B9AEDE"/>
            </a:solidFill>
          </a:ln>
        </p:spPr>
        <p:txBody>
          <a:bodyPr wrap="square" lIns="38100" tIns="38100" rIns="38100" bIns="38100" rtlCol="0" anchor="ctr"/>
          <a:lstStyle/>
          <a:p>
            <a:pPr algn="ctr" indent="0" marL="0">
              <a:buNone/>
            </a:pPr>
            <a:r>
              <a:rPr lang="en-US" sz="900" b="1" spc="100" kern="0" dirty="0">
                <a:solidFill>
                  <a:srgbClr val="8D84A8"/>
                </a:solidFill>
                <a:latin typeface="Poppins" pitchFamily="34" charset="0"/>
                <a:ea typeface="Poppins" pitchFamily="34" charset="-122"/>
                <a:cs typeface="Poppins" pitchFamily="34" charset="-120"/>
              </a:rPr>
              <a:t>BEYOND</a:t>
            </a:r>
            <a:endParaRPr lang="en-US" sz="900" dirty="0"/>
          </a:p>
        </p:txBody>
      </p:sp>
      <p:sp>
        <p:nvSpPr>
          <p:cNvPr id="23" name="Text 21"/>
          <p:cNvSpPr/>
          <p:nvPr/>
        </p:nvSpPr>
        <p:spPr>
          <a:xfrm>
            <a:off x="9208008" y="2788920"/>
            <a:ext cx="2221992" cy="640080"/>
          </a:xfrm>
          <a:prstGeom prst="rect">
            <a:avLst/>
          </a:prstGeom>
          <a:noFill/>
          <a:ln/>
        </p:spPr>
        <p:txBody>
          <a:bodyPr wrap="square" lIns="0" tIns="0" rIns="0" bIns="0" rtlCol="0" anchor="ctr"/>
          <a:lstStyle/>
          <a:p>
            <a:pPr indent="0" marL="0">
              <a:buNone/>
            </a:pPr>
            <a:r>
              <a:rPr lang="en-US" sz="1500" b="1" i="1" dirty="0">
                <a:solidFill>
                  <a:srgbClr val="7A68B8"/>
                </a:solidFill>
                <a:latin typeface="Playfair Display" pitchFamily="34" charset="0"/>
                <a:ea typeface="Playfair Display" pitchFamily="34" charset="-122"/>
                <a:cs typeface="Playfair Display" pitchFamily="34" charset="-120"/>
              </a:rPr>
              <a:t>Agentic Architecture</a:t>
            </a:r>
            <a:endParaRPr lang="en-US" sz="1500" dirty="0"/>
          </a:p>
        </p:txBody>
      </p:sp>
      <p:sp>
        <p:nvSpPr>
          <p:cNvPr id="24" name="Text 22"/>
          <p:cNvSpPr/>
          <p:nvPr/>
        </p:nvSpPr>
        <p:spPr>
          <a:xfrm>
            <a:off x="9208008" y="3703320"/>
            <a:ext cx="2221992" cy="1188720"/>
          </a:xfrm>
          <a:prstGeom prst="rect">
            <a:avLst/>
          </a:prstGeom>
          <a:noFill/>
          <a:ln/>
        </p:spPr>
        <p:txBody>
          <a:bodyPr wrap="square" lIns="0" tIns="0" rIns="0" bIns="0" rtlCol="0" anchor="ctr"/>
          <a:lstStyle/>
          <a:p>
            <a:pPr indent="0" marL="0">
              <a:lnSpc>
                <a:spcPct val="110000"/>
              </a:lnSpc>
              <a:buNone/>
            </a:pPr>
            <a:r>
              <a:rPr lang="en-US" sz="1150" dirty="0">
                <a:solidFill>
                  <a:srgbClr val="453D5C"/>
                </a:solidFill>
                <a:latin typeface="Poppins" pitchFamily="34" charset="0"/>
                <a:ea typeface="Poppins" pitchFamily="34" charset="-122"/>
                <a:cs typeface="Poppins" pitchFamily="34" charset="-120"/>
              </a:rPr>
              <a:t>AI agents working inside your business. Built on our proprietary Five Pillar Framework.</a:t>
            </a:r>
            <a:endParaRPr lang="en-US" sz="1150" dirty="0"/>
          </a:p>
        </p:txBody>
      </p:sp>
      <p:sp>
        <p:nvSpPr>
          <p:cNvPr id="25" name="Text 23"/>
          <p:cNvSpPr/>
          <p:nvPr/>
        </p:nvSpPr>
        <p:spPr>
          <a:xfrm>
            <a:off x="640080" y="6172200"/>
            <a:ext cx="10972800" cy="457200"/>
          </a:xfrm>
          <a:prstGeom prst="rect">
            <a:avLst/>
          </a:prstGeom>
          <a:noFill/>
          <a:ln/>
        </p:spPr>
        <p:txBody>
          <a:bodyPr wrap="square" lIns="0" tIns="0" rIns="0" bIns="0" rtlCol="0" anchor="ctr"/>
          <a:lstStyle/>
          <a:p>
            <a:pPr algn="ctr" indent="0" marL="0">
              <a:buNone/>
            </a:pPr>
            <a:r>
              <a:rPr lang="en-US" sz="1600" b="1" i="1" dirty="0">
                <a:solidFill>
                  <a:srgbClr val="16121F"/>
                </a:solidFill>
                <a:latin typeface="Poppins" pitchFamily="34" charset="0"/>
                <a:ea typeface="Poppins" pitchFamily="34" charset="-122"/>
                <a:cs typeface="Poppins" pitchFamily="34" charset="-120"/>
              </a:rPr>
              <a:t>The bottleneck is not your budget. It is where your </a:t>
            </a:r>
            <a:pPr algn="ctr" indent="0" marL="0">
              <a:buNone/>
            </a:pPr>
            <a:r>
              <a:rPr lang="en-US" sz="1600" b="1" i="1" dirty="0">
                <a:solidFill>
                  <a:srgbClr val="7B3BE9"/>
                </a:solidFill>
                <a:latin typeface="Poppins" pitchFamily="34" charset="0"/>
                <a:ea typeface="Poppins" pitchFamily="34" charset="-122"/>
                <a:cs typeface="Poppins" pitchFamily="34" charset="-120"/>
              </a:rPr>
              <a:t>intelligence</a:t>
            </a:r>
            <a:pPr algn="ctr" indent="0" marL="0">
              <a:buNone/>
            </a:pPr>
            <a:r>
              <a:rPr lang="en-US" sz="1600" b="1" i="1" dirty="0">
                <a:solidFill>
                  <a:srgbClr val="16121F"/>
                </a:solidFill>
                <a:latin typeface="Poppins" pitchFamily="34" charset="0"/>
                <a:ea typeface="Poppins" pitchFamily="34" charset="-122"/>
                <a:cs typeface="Poppins" pitchFamily="34" charset="-120"/>
              </a:rPr>
              <a:t> lives.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0D1E"/>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400" kern="0" dirty="0">
                <a:solidFill>
                  <a:srgbClr val="9D8CF0"/>
                </a:solidFill>
                <a:latin typeface="Poppins" pitchFamily="34" charset="0"/>
                <a:ea typeface="Poppins" pitchFamily="34" charset="-122"/>
                <a:cs typeface="Poppins" pitchFamily="34" charset="-120"/>
              </a:rPr>
              <a:t>THE HONEST ECONOMICS</a:t>
            </a:r>
            <a:endParaRPr lang="en-US" sz="1200" dirty="0"/>
          </a:p>
        </p:txBody>
      </p:sp>
      <p:sp>
        <p:nvSpPr>
          <p:cNvPr id="3" name="Text 1"/>
          <p:cNvSpPr/>
          <p:nvPr/>
        </p:nvSpPr>
        <p:spPr>
          <a:xfrm>
            <a:off x="640080" y="868680"/>
            <a:ext cx="10058400" cy="731520"/>
          </a:xfrm>
          <a:prstGeom prst="rect">
            <a:avLst/>
          </a:prstGeom>
          <a:noFill/>
          <a:ln/>
        </p:spPr>
        <p:txBody>
          <a:bodyPr wrap="square" lIns="0" tIns="0" rIns="0" bIns="0" rtlCol="0" anchor="ctr"/>
          <a:lstStyle/>
          <a:p>
            <a:pPr indent="0" marL="0">
              <a:buNone/>
            </a:pPr>
            <a:r>
              <a:rPr lang="en-US" sz="3600" b="1" dirty="0">
                <a:solidFill>
                  <a:srgbClr val="FFFFFF"/>
                </a:solidFill>
                <a:latin typeface="Playfair Display" pitchFamily="34" charset="0"/>
                <a:ea typeface="Playfair Display" pitchFamily="34" charset="-122"/>
                <a:cs typeface="Playfair Display" pitchFamily="34" charset="-120"/>
              </a:rPr>
              <a:t>Same budget</a:t>
            </a:r>
            <a:pPr indent="0" marL="0">
              <a:buNone/>
            </a:pPr>
            <a:r>
              <a:rPr lang="en-US" sz="3600" b="1" dirty="0">
                <a:solidFill>
                  <a:srgbClr val="9D8CF0"/>
                </a:solidFill>
                <a:latin typeface="Playfair Display" pitchFamily="34" charset="0"/>
                <a:ea typeface="Playfair Display" pitchFamily="34" charset="-122"/>
                <a:cs typeface="Playfair Display" pitchFamily="34" charset="-120"/>
              </a:rPr>
              <a:t>. </a:t>
            </a:r>
            <a:pPr indent="0" marL="0">
              <a:buNone/>
            </a:pPr>
            <a:r>
              <a:rPr lang="en-US" sz="3600" b="1" dirty="0">
                <a:solidFill>
                  <a:srgbClr val="FFFFFF"/>
                </a:solidFill>
                <a:latin typeface="Playfair Display" pitchFamily="34" charset="0"/>
                <a:ea typeface="Playfair Display" pitchFamily="34" charset="-122"/>
                <a:cs typeface="Playfair Display" pitchFamily="34" charset="-120"/>
              </a:rPr>
              <a:t>More machine</a:t>
            </a:r>
            <a:pPr indent="0" marL="0">
              <a:buNone/>
            </a:pPr>
            <a:r>
              <a:rPr lang="en-US" sz="3600" b="1" dirty="0">
                <a:solidFill>
                  <a:srgbClr val="9D8CF0"/>
                </a:solidFill>
                <a:latin typeface="Playfair Display" pitchFamily="34" charset="0"/>
                <a:ea typeface="Playfair Display" pitchFamily="34" charset="-122"/>
                <a:cs typeface="Playfair Display" pitchFamily="34" charset="-120"/>
              </a:rPr>
              <a:t>.</a:t>
            </a:r>
            <a:endParaRPr lang="en-US" sz="3600" dirty="0"/>
          </a:p>
        </p:txBody>
      </p:sp>
      <p:sp>
        <p:nvSpPr>
          <p:cNvPr id="4" name="Text 2"/>
          <p:cNvSpPr/>
          <p:nvPr/>
        </p:nvSpPr>
        <p:spPr>
          <a:xfrm>
            <a:off x="640080" y="1627632"/>
            <a:ext cx="10058400" cy="365760"/>
          </a:xfrm>
          <a:prstGeom prst="rect">
            <a:avLst/>
          </a:prstGeom>
          <a:noFill/>
          <a:ln/>
        </p:spPr>
        <p:txBody>
          <a:bodyPr wrap="square" lIns="0" tIns="0" rIns="0" bIns="0" rtlCol="0" anchor="ctr"/>
          <a:lstStyle/>
          <a:p>
            <a:pPr indent="0" marL="0">
              <a:buNone/>
            </a:pPr>
            <a:r>
              <a:rPr lang="en-US" sz="1600" b="1" i="1" dirty="0">
                <a:solidFill>
                  <a:srgbClr val="9D8CF0"/>
                </a:solidFill>
                <a:latin typeface="Poppins" pitchFamily="34" charset="0"/>
                <a:ea typeface="Poppins" pitchFamily="34" charset="-122"/>
                <a:cs typeface="Poppins" pitchFamily="34" charset="-120"/>
              </a:rPr>
              <a:t>Every dollar buys ads. Every result buys intelligence.</a:t>
            </a:r>
            <a:endParaRPr lang="en-US" sz="1600" dirty="0"/>
          </a:p>
        </p:txBody>
      </p:sp>
      <p:sp>
        <p:nvSpPr>
          <p:cNvPr id="5" name="Shape 3"/>
          <p:cNvSpPr/>
          <p:nvPr/>
        </p:nvSpPr>
        <p:spPr>
          <a:xfrm>
            <a:off x="640080" y="2194560"/>
            <a:ext cx="2624328" cy="1371600"/>
          </a:xfrm>
          <a:prstGeom prst="roundRect">
            <a:avLst>
              <a:gd name="adj" fmla="val 3333"/>
            </a:avLst>
          </a:prstGeom>
          <a:solidFill>
            <a:srgbClr val="1A1428"/>
          </a:solidFill>
          <a:ln/>
        </p:spPr>
      </p:sp>
      <p:sp>
        <p:nvSpPr>
          <p:cNvPr id="6" name="Text 4"/>
          <p:cNvSpPr/>
          <p:nvPr/>
        </p:nvSpPr>
        <p:spPr>
          <a:xfrm>
            <a:off x="868680" y="2331720"/>
            <a:ext cx="2167128" cy="640080"/>
          </a:xfrm>
          <a:prstGeom prst="rect">
            <a:avLst/>
          </a:prstGeom>
          <a:noFill/>
          <a:ln/>
        </p:spPr>
        <p:txBody>
          <a:bodyPr wrap="square" lIns="0" tIns="0" rIns="0" bIns="0" rtlCol="0" anchor="ctr"/>
          <a:lstStyle/>
          <a:p>
            <a:pPr indent="0" marL="0">
              <a:buNone/>
            </a:pPr>
            <a:r>
              <a:rPr lang="en-US" sz="3400" b="1" dirty="0">
                <a:solidFill>
                  <a:srgbClr val="FFFFFF"/>
                </a:solidFill>
                <a:latin typeface="Playfair Display" pitchFamily="34" charset="0"/>
                <a:ea typeface="Playfair Display" pitchFamily="34" charset="-122"/>
                <a:cs typeface="Playfair Display" pitchFamily="34" charset="-120"/>
              </a:rPr>
              <a:t>$0</a:t>
            </a:r>
            <a:endParaRPr lang="en-US" sz="3400" dirty="0"/>
          </a:p>
        </p:txBody>
      </p:sp>
      <p:sp>
        <p:nvSpPr>
          <p:cNvPr id="7" name="Text 5"/>
          <p:cNvSpPr/>
          <p:nvPr/>
        </p:nvSpPr>
        <p:spPr>
          <a:xfrm>
            <a:off x="868680" y="2999232"/>
            <a:ext cx="2167128" cy="502920"/>
          </a:xfrm>
          <a:prstGeom prst="rect">
            <a:avLst/>
          </a:prstGeom>
          <a:noFill/>
          <a:ln/>
        </p:spPr>
        <p:txBody>
          <a:bodyPr wrap="square" lIns="0" tIns="0" rIns="0" bIns="0" rtlCol="0" anchor="ctr"/>
          <a:lstStyle/>
          <a:p>
            <a:pPr indent="0" marL="0">
              <a:lnSpc>
                <a:spcPct val="100000"/>
              </a:lnSpc>
              <a:buNone/>
            </a:pPr>
            <a:r>
              <a:rPr lang="en-US" sz="1100" dirty="0">
                <a:solidFill>
                  <a:srgbClr val="A89BD4"/>
                </a:solidFill>
                <a:latin typeface="Poppins" pitchFamily="34" charset="0"/>
                <a:ea typeface="Poppins" pitchFamily="34" charset="-122"/>
                <a:cs typeface="Poppins" pitchFamily="34" charset="-120"/>
              </a:rPr>
              <a:t>Management fee on your media</a:t>
            </a:r>
            <a:endParaRPr lang="en-US" sz="1100" dirty="0"/>
          </a:p>
        </p:txBody>
      </p:sp>
      <p:sp>
        <p:nvSpPr>
          <p:cNvPr id="8" name="Shape 6"/>
          <p:cNvSpPr/>
          <p:nvPr/>
        </p:nvSpPr>
        <p:spPr>
          <a:xfrm>
            <a:off x="3429000" y="2194560"/>
            <a:ext cx="2624328" cy="1371600"/>
          </a:xfrm>
          <a:prstGeom prst="roundRect">
            <a:avLst>
              <a:gd name="adj" fmla="val 3333"/>
            </a:avLst>
          </a:prstGeom>
          <a:solidFill>
            <a:srgbClr val="1A1428"/>
          </a:solidFill>
          <a:ln/>
        </p:spPr>
      </p:sp>
      <p:sp>
        <p:nvSpPr>
          <p:cNvPr id="9" name="Text 7"/>
          <p:cNvSpPr/>
          <p:nvPr/>
        </p:nvSpPr>
        <p:spPr>
          <a:xfrm>
            <a:off x="3657600" y="2331720"/>
            <a:ext cx="2167128" cy="640080"/>
          </a:xfrm>
          <a:prstGeom prst="rect">
            <a:avLst/>
          </a:prstGeom>
          <a:noFill/>
          <a:ln/>
        </p:spPr>
        <p:txBody>
          <a:bodyPr wrap="square" lIns="0" tIns="0" rIns="0" bIns="0" rtlCol="0" anchor="ctr"/>
          <a:lstStyle/>
          <a:p>
            <a:pPr indent="0" marL="0">
              <a:buNone/>
            </a:pPr>
            <a:r>
              <a:rPr lang="en-US" sz="3400" b="1" dirty="0">
                <a:solidFill>
                  <a:srgbClr val="FFFFFF"/>
                </a:solidFill>
                <a:latin typeface="Playfair Display" pitchFamily="34" charset="0"/>
                <a:ea typeface="Playfair Display" pitchFamily="34" charset="-122"/>
                <a:cs typeface="Playfair Display" pitchFamily="34" charset="-120"/>
              </a:rPr>
              <a:t>$0</a:t>
            </a:r>
            <a:endParaRPr lang="en-US" sz="3400" dirty="0"/>
          </a:p>
        </p:txBody>
      </p:sp>
      <p:sp>
        <p:nvSpPr>
          <p:cNvPr id="10" name="Text 8"/>
          <p:cNvSpPr/>
          <p:nvPr/>
        </p:nvSpPr>
        <p:spPr>
          <a:xfrm>
            <a:off x="3657600" y="2999232"/>
            <a:ext cx="2167128" cy="502920"/>
          </a:xfrm>
          <a:prstGeom prst="rect">
            <a:avLst/>
          </a:prstGeom>
          <a:noFill/>
          <a:ln/>
        </p:spPr>
        <p:txBody>
          <a:bodyPr wrap="square" lIns="0" tIns="0" rIns="0" bIns="0" rtlCol="0" anchor="ctr"/>
          <a:lstStyle/>
          <a:p>
            <a:pPr indent="0" marL="0">
              <a:lnSpc>
                <a:spcPct val="100000"/>
              </a:lnSpc>
              <a:buNone/>
            </a:pPr>
            <a:r>
              <a:rPr lang="en-US" sz="1100" dirty="0">
                <a:solidFill>
                  <a:srgbClr val="A89BD4"/>
                </a:solidFill>
                <a:latin typeface="Poppins" pitchFamily="34" charset="0"/>
                <a:ea typeface="Poppins" pitchFamily="34" charset="-122"/>
                <a:cs typeface="Poppins" pitchFamily="34" charset="-120"/>
              </a:rPr>
              <a:t>Markup on CPMs or platform costs</a:t>
            </a:r>
            <a:endParaRPr lang="en-US" sz="1100" dirty="0"/>
          </a:p>
        </p:txBody>
      </p:sp>
      <p:sp>
        <p:nvSpPr>
          <p:cNvPr id="11" name="Shape 9"/>
          <p:cNvSpPr/>
          <p:nvPr/>
        </p:nvSpPr>
        <p:spPr>
          <a:xfrm>
            <a:off x="6217920" y="2194560"/>
            <a:ext cx="2624328" cy="1371600"/>
          </a:xfrm>
          <a:prstGeom prst="roundRect">
            <a:avLst>
              <a:gd name="adj" fmla="val 3333"/>
            </a:avLst>
          </a:prstGeom>
          <a:solidFill>
            <a:srgbClr val="1A1428"/>
          </a:solidFill>
          <a:ln/>
        </p:spPr>
      </p:sp>
      <p:sp>
        <p:nvSpPr>
          <p:cNvPr id="12" name="Text 10"/>
          <p:cNvSpPr/>
          <p:nvPr/>
        </p:nvSpPr>
        <p:spPr>
          <a:xfrm>
            <a:off x="6446520" y="2331720"/>
            <a:ext cx="2167128" cy="640080"/>
          </a:xfrm>
          <a:prstGeom prst="rect">
            <a:avLst/>
          </a:prstGeom>
          <a:noFill/>
          <a:ln/>
        </p:spPr>
        <p:txBody>
          <a:bodyPr wrap="square" lIns="0" tIns="0" rIns="0" bIns="0" rtlCol="0" anchor="ctr"/>
          <a:lstStyle/>
          <a:p>
            <a:pPr indent="0" marL="0">
              <a:buNone/>
            </a:pPr>
            <a:r>
              <a:rPr lang="en-US" sz="3400" b="1" dirty="0">
                <a:solidFill>
                  <a:srgbClr val="FFFFFF"/>
                </a:solidFill>
                <a:latin typeface="Playfair Display" pitchFamily="34" charset="0"/>
                <a:ea typeface="Playfair Display" pitchFamily="34" charset="-122"/>
                <a:cs typeface="Playfair Display" pitchFamily="34" charset="-120"/>
              </a:rPr>
              <a:t>1</a:t>
            </a:r>
            <a:endParaRPr lang="en-US" sz="3400" dirty="0"/>
          </a:p>
        </p:txBody>
      </p:sp>
      <p:sp>
        <p:nvSpPr>
          <p:cNvPr id="13" name="Text 11"/>
          <p:cNvSpPr/>
          <p:nvPr/>
        </p:nvSpPr>
        <p:spPr>
          <a:xfrm>
            <a:off x="6446520" y="2999232"/>
            <a:ext cx="2167128" cy="502920"/>
          </a:xfrm>
          <a:prstGeom prst="rect">
            <a:avLst/>
          </a:prstGeom>
          <a:noFill/>
          <a:ln/>
        </p:spPr>
        <p:txBody>
          <a:bodyPr wrap="square" lIns="0" tIns="0" rIns="0" bIns="0" rtlCol="0" anchor="ctr"/>
          <a:lstStyle/>
          <a:p>
            <a:pPr indent="0" marL="0">
              <a:lnSpc>
                <a:spcPct val="100000"/>
              </a:lnSpc>
              <a:buNone/>
            </a:pPr>
            <a:r>
              <a:rPr lang="en-US" sz="1100" dirty="0">
                <a:solidFill>
                  <a:srgbClr val="A89BD4"/>
                </a:solidFill>
                <a:latin typeface="Poppins" pitchFamily="34" charset="0"/>
                <a:ea typeface="Poppins" pitchFamily="34" charset="-122"/>
                <a:cs typeface="Poppins" pitchFamily="34" charset="-120"/>
              </a:rPr>
              <a:t>Flat monthly KNVRT fee, scoped to your account</a:t>
            </a:r>
            <a:endParaRPr lang="en-US" sz="1100" dirty="0"/>
          </a:p>
        </p:txBody>
      </p:sp>
      <p:sp>
        <p:nvSpPr>
          <p:cNvPr id="14" name="Shape 12"/>
          <p:cNvSpPr/>
          <p:nvPr/>
        </p:nvSpPr>
        <p:spPr>
          <a:xfrm>
            <a:off x="9006840" y="2194560"/>
            <a:ext cx="2624328" cy="1371600"/>
          </a:xfrm>
          <a:prstGeom prst="roundRect">
            <a:avLst>
              <a:gd name="adj" fmla="val 3333"/>
            </a:avLst>
          </a:prstGeom>
          <a:solidFill>
            <a:srgbClr val="1A1428"/>
          </a:solidFill>
          <a:ln/>
        </p:spPr>
      </p:sp>
      <p:sp>
        <p:nvSpPr>
          <p:cNvPr id="15" name="Text 13"/>
          <p:cNvSpPr/>
          <p:nvPr/>
        </p:nvSpPr>
        <p:spPr>
          <a:xfrm>
            <a:off x="9235440" y="2331720"/>
            <a:ext cx="2167128" cy="640080"/>
          </a:xfrm>
          <a:prstGeom prst="rect">
            <a:avLst/>
          </a:prstGeom>
          <a:noFill/>
          <a:ln/>
        </p:spPr>
        <p:txBody>
          <a:bodyPr wrap="square" lIns="0" tIns="0" rIns="0" bIns="0" rtlCol="0" anchor="ctr"/>
          <a:lstStyle/>
          <a:p>
            <a:pPr indent="0" marL="0">
              <a:buNone/>
            </a:pPr>
            <a:r>
              <a:rPr lang="en-US" sz="3400" b="1" dirty="0">
                <a:solidFill>
                  <a:srgbClr val="FFFFFF"/>
                </a:solidFill>
                <a:latin typeface="Playfair Display" pitchFamily="34" charset="0"/>
                <a:ea typeface="Playfair Display" pitchFamily="34" charset="-122"/>
                <a:cs typeface="Playfair Display" pitchFamily="34" charset="-120"/>
              </a:rPr>
              <a:t>100%</a:t>
            </a:r>
            <a:endParaRPr lang="en-US" sz="3400" dirty="0"/>
          </a:p>
        </p:txBody>
      </p:sp>
      <p:sp>
        <p:nvSpPr>
          <p:cNvPr id="16" name="Text 14"/>
          <p:cNvSpPr/>
          <p:nvPr/>
        </p:nvSpPr>
        <p:spPr>
          <a:xfrm>
            <a:off x="9235440" y="2999232"/>
            <a:ext cx="2167128" cy="502920"/>
          </a:xfrm>
          <a:prstGeom prst="rect">
            <a:avLst/>
          </a:prstGeom>
          <a:noFill/>
          <a:ln/>
        </p:spPr>
        <p:txBody>
          <a:bodyPr wrap="square" lIns="0" tIns="0" rIns="0" bIns="0" rtlCol="0" anchor="ctr"/>
          <a:lstStyle/>
          <a:p>
            <a:pPr indent="0" marL="0">
              <a:lnSpc>
                <a:spcPct val="100000"/>
              </a:lnSpc>
              <a:buNone/>
            </a:pPr>
            <a:r>
              <a:rPr lang="en-US" sz="1100" dirty="0">
                <a:solidFill>
                  <a:srgbClr val="A89BD4"/>
                </a:solidFill>
                <a:latin typeface="Poppins" pitchFamily="34" charset="0"/>
                <a:ea typeface="Poppins" pitchFamily="34" charset="-122"/>
                <a:cs typeface="Poppins" pitchFamily="34" charset="-120"/>
              </a:rPr>
              <a:t>Of your ad spend goes to buying ads</a:t>
            </a:r>
            <a:endParaRPr lang="en-US" sz="1100" dirty="0"/>
          </a:p>
        </p:txBody>
      </p:sp>
      <p:sp>
        <p:nvSpPr>
          <p:cNvPr id="17" name="Shape 15"/>
          <p:cNvSpPr/>
          <p:nvPr/>
        </p:nvSpPr>
        <p:spPr>
          <a:xfrm>
            <a:off x="640080" y="3886200"/>
            <a:ext cx="10881360" cy="2377440"/>
          </a:xfrm>
          <a:prstGeom prst="roundRect">
            <a:avLst>
              <a:gd name="adj" fmla="val 1923"/>
            </a:avLst>
          </a:prstGeom>
          <a:solidFill>
            <a:srgbClr val="1A1428"/>
          </a:solidFill>
          <a:ln w="12700">
            <a:solidFill>
              <a:srgbClr val="7B3BE9">
                <a:alpha val="45000"/>
              </a:srgbClr>
            </a:solidFill>
            <a:prstDash val="solid"/>
          </a:ln>
        </p:spPr>
      </p:sp>
      <p:sp>
        <p:nvSpPr>
          <p:cNvPr id="18" name="Text 16"/>
          <p:cNvSpPr/>
          <p:nvPr/>
        </p:nvSpPr>
        <p:spPr>
          <a:xfrm>
            <a:off x="1005840" y="4114800"/>
            <a:ext cx="10149840" cy="548640"/>
          </a:xfrm>
          <a:prstGeom prst="rect">
            <a:avLst/>
          </a:prstGeom>
          <a:noFill/>
          <a:ln/>
        </p:spPr>
        <p:txBody>
          <a:bodyPr wrap="square" lIns="0" tIns="0" rIns="0" bIns="0" rtlCol="0" anchor="ctr"/>
          <a:lstStyle/>
          <a:p>
            <a:pPr indent="0" marL="0">
              <a:buNone/>
            </a:pPr>
            <a:r>
              <a:rPr lang="en-US" sz="2500" b="1" dirty="0">
                <a:solidFill>
                  <a:srgbClr val="FFFFFF"/>
                </a:solidFill>
                <a:latin typeface="Playfair Display" pitchFamily="34" charset="0"/>
                <a:ea typeface="Playfair Display" pitchFamily="34" charset="-122"/>
                <a:cs typeface="Playfair Display" pitchFamily="34" charset="-120"/>
              </a:rPr>
              <a:t>The old model has a name. It is called </a:t>
            </a:r>
            <a:pPr indent="0" marL="0">
              <a:buNone/>
            </a:pPr>
            <a:r>
              <a:rPr lang="en-US" sz="2500" b="1" i="1" dirty="0">
                <a:solidFill>
                  <a:srgbClr val="9D8CF0"/>
                </a:solidFill>
                <a:latin typeface="Playfair Display" pitchFamily="34" charset="0"/>
                <a:ea typeface="Playfair Display" pitchFamily="34" charset="-122"/>
                <a:cs typeface="Playfair Display" pitchFamily="34" charset="-120"/>
              </a:rPr>
              <a:t>arbitrage</a:t>
            </a:r>
            <a:pPr indent="0" marL="0">
              <a:buNone/>
            </a:pPr>
            <a:r>
              <a:rPr lang="en-US" sz="2500" b="1" dirty="0">
                <a:solidFill>
                  <a:srgbClr val="9D8CF0"/>
                </a:solidFill>
                <a:latin typeface="Playfair Display" pitchFamily="34" charset="0"/>
                <a:ea typeface="Playfair Display" pitchFamily="34" charset="-122"/>
                <a:cs typeface="Playfair Display" pitchFamily="34" charset="-120"/>
              </a:rPr>
              <a:t>.</a:t>
            </a:r>
            <a:endParaRPr lang="en-US" sz="2500" dirty="0"/>
          </a:p>
        </p:txBody>
      </p:sp>
      <p:sp>
        <p:nvSpPr>
          <p:cNvPr id="19" name="Text 17"/>
          <p:cNvSpPr/>
          <p:nvPr/>
        </p:nvSpPr>
        <p:spPr>
          <a:xfrm>
            <a:off x="1005840" y="4709160"/>
            <a:ext cx="10149840" cy="1371600"/>
          </a:xfrm>
          <a:prstGeom prst="rect">
            <a:avLst/>
          </a:prstGeom>
          <a:noFill/>
          <a:ln/>
        </p:spPr>
        <p:txBody>
          <a:bodyPr wrap="square" lIns="0" tIns="0" rIns="0" bIns="0" rtlCol="0" anchor="ctr"/>
          <a:lstStyle/>
          <a:p>
            <a:pPr indent="0" marL="0">
              <a:lnSpc>
                <a:spcPct val="115000"/>
              </a:lnSpc>
              <a:buNone/>
            </a:pPr>
            <a:r>
              <a:rPr lang="en-US" sz="1300" dirty="0">
                <a:solidFill>
                  <a:srgbClr val="CFC4F0"/>
                </a:solidFill>
                <a:latin typeface="Poppins" pitchFamily="34" charset="0"/>
                <a:ea typeface="Poppins" pitchFamily="34" charset="-122"/>
                <a:cs typeface="Poppins" pitchFamily="34" charset="-120"/>
              </a:rPr>
              <a:t>In the media buying industry, arbitrage means trading against your client's budget: they buy your media low, bill you high, and pocket the spread. It is rarely disclosed and never itemized. Some agencies do it through marked-up CPMs, some through opaque fees, some through both. Our answer is structural: we take no margin on media at all, so there is nothing to hide and nothing to audit.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A"/>
        </a:solidFill>
      </p:bgPr>
    </p:bg>
    <p:spTree>
      <p:nvGrpSpPr>
        <p:cNvPr id="1" name=""/>
        <p:cNvGrpSpPr/>
        <p:nvPr/>
      </p:nvGrpSpPr>
      <p:grpSpPr>
        <a:xfrm>
          <a:off x="0" y="0"/>
          <a:ext cx="0" cy="0"/>
          <a:chOff x="0" y="0"/>
          <a:chExt cx="0" cy="0"/>
        </a:xfrm>
      </p:grpSpPr>
      <p:sp>
        <p:nvSpPr>
          <p:cNvPr id="2" name="Text 0"/>
          <p:cNvSpPr/>
          <p:nvPr/>
        </p:nvSpPr>
        <p:spPr>
          <a:xfrm>
            <a:off x="640080" y="548640"/>
            <a:ext cx="9144000" cy="320040"/>
          </a:xfrm>
          <a:prstGeom prst="rect">
            <a:avLst/>
          </a:prstGeom>
          <a:noFill/>
          <a:ln/>
        </p:spPr>
        <p:txBody>
          <a:bodyPr wrap="square" lIns="0" tIns="0" rIns="0" bIns="0" rtlCol="0" anchor="ctr"/>
          <a:lstStyle/>
          <a:p>
            <a:pPr indent="0" marL="0">
              <a:buNone/>
            </a:pPr>
            <a:r>
              <a:rPr lang="en-US" sz="1200" b="1" spc="400" kern="0" dirty="0">
                <a:solidFill>
                  <a:srgbClr val="6C2FE0"/>
                </a:solidFill>
                <a:latin typeface="Poppins" pitchFamily="34" charset="0"/>
                <a:ea typeface="Poppins" pitchFamily="34" charset="-122"/>
                <a:cs typeface="Poppins" pitchFamily="34" charset="-120"/>
              </a:rPr>
              <a:t>THE DISTRIKT DISCIPLINE</a:t>
            </a:r>
            <a:endParaRPr lang="en-US" sz="1200" dirty="0"/>
          </a:p>
        </p:txBody>
      </p:sp>
      <p:sp>
        <p:nvSpPr>
          <p:cNvPr id="3" name="Text 1"/>
          <p:cNvSpPr/>
          <p:nvPr/>
        </p:nvSpPr>
        <p:spPr>
          <a:xfrm>
            <a:off x="640080" y="914400"/>
            <a:ext cx="10058400" cy="731520"/>
          </a:xfrm>
          <a:prstGeom prst="rect">
            <a:avLst/>
          </a:prstGeom>
          <a:noFill/>
          <a:ln/>
        </p:spPr>
        <p:txBody>
          <a:bodyPr wrap="square" lIns="0" tIns="0" rIns="0" bIns="0" rtlCol="0" anchor="ctr"/>
          <a:lstStyle/>
          <a:p>
            <a:pPr indent="0" marL="0">
              <a:buNone/>
            </a:pPr>
            <a:r>
              <a:rPr lang="en-US" sz="3800" b="1" dirty="0">
                <a:solidFill>
                  <a:srgbClr val="16121F"/>
                </a:solidFill>
                <a:latin typeface="Playfair Display" pitchFamily="34" charset="0"/>
                <a:ea typeface="Playfair Display" pitchFamily="34" charset="-122"/>
                <a:cs typeface="Playfair Display" pitchFamily="34" charset="-120"/>
              </a:rPr>
              <a:t>Why DISTRIKT</a:t>
            </a:r>
            <a:pPr indent="0" marL="0">
              <a:buNone/>
            </a:pPr>
            <a:r>
              <a:rPr lang="en-US" sz="3800" b="1" dirty="0">
                <a:solidFill>
                  <a:srgbClr val="7B3BE9"/>
                </a:solidFill>
                <a:latin typeface="Playfair Display" pitchFamily="34" charset="0"/>
                <a:ea typeface="Playfair Display" pitchFamily="34" charset="-122"/>
                <a:cs typeface="Playfair Display" pitchFamily="34" charset="-120"/>
              </a:rPr>
              <a:t>?</a:t>
            </a:r>
            <a:endParaRPr lang="en-US" sz="3800" dirty="0"/>
          </a:p>
        </p:txBody>
      </p:sp>
      <p:sp>
        <p:nvSpPr>
          <p:cNvPr id="4" name="Text 2"/>
          <p:cNvSpPr/>
          <p:nvPr/>
        </p:nvSpPr>
        <p:spPr>
          <a:xfrm>
            <a:off x="640080" y="1737360"/>
            <a:ext cx="10058400" cy="457200"/>
          </a:xfrm>
          <a:prstGeom prst="rect">
            <a:avLst/>
          </a:prstGeom>
          <a:noFill/>
          <a:ln/>
        </p:spPr>
        <p:txBody>
          <a:bodyPr wrap="square" lIns="0" tIns="0" rIns="0" bIns="0" rtlCol="0" anchor="ctr"/>
          <a:lstStyle/>
          <a:p>
            <a:pPr indent="0" marL="0">
              <a:buNone/>
            </a:pPr>
            <a:r>
              <a:rPr lang="en-US" sz="1700" b="1" i="1" dirty="0">
                <a:solidFill>
                  <a:srgbClr val="6C2FE0"/>
                </a:solidFill>
                <a:latin typeface="Poppins" pitchFamily="34" charset="0"/>
                <a:ea typeface="Poppins" pitchFamily="34" charset="-122"/>
                <a:cs typeface="Poppins" pitchFamily="34" charset="-120"/>
              </a:rPr>
              <a:t>Budget follows evidence and data. Not opinion.</a:t>
            </a:r>
            <a:endParaRPr lang="en-US" sz="1700" dirty="0"/>
          </a:p>
        </p:txBody>
      </p:sp>
      <p:sp>
        <p:nvSpPr>
          <p:cNvPr id="5" name="Text 3"/>
          <p:cNvSpPr/>
          <p:nvPr/>
        </p:nvSpPr>
        <p:spPr>
          <a:xfrm>
            <a:off x="640080" y="2331720"/>
            <a:ext cx="10241280" cy="2011680"/>
          </a:xfrm>
          <a:prstGeom prst="rect">
            <a:avLst/>
          </a:prstGeom>
          <a:noFill/>
          <a:ln/>
        </p:spPr>
        <p:txBody>
          <a:bodyPr wrap="square" lIns="0" tIns="0" rIns="0" bIns="0" rtlCol="0" anchor="ctr"/>
          <a:lstStyle/>
          <a:p>
            <a:pPr indent="0" marL="0">
              <a:lnSpc>
                <a:spcPct val="120000"/>
              </a:lnSpc>
              <a:spcAft>
                <a:spcPts val="1200"/>
              </a:spcAft>
              <a:buNone/>
            </a:pPr>
            <a:r>
              <a:rPr lang="en-US" sz="1500" dirty="0">
                <a:solidFill>
                  <a:srgbClr val="453D5C"/>
                </a:solidFill>
                <a:latin typeface="Poppins" pitchFamily="34" charset="0"/>
                <a:ea typeface="Poppins" pitchFamily="34" charset="-122"/>
                <a:cs typeface="Poppins" pitchFamily="34" charset="-120"/>
              </a:rPr>
              <a:t>Because our incentives are actually aligned with yours. Most agencies get paid a percentage of what you spend, which means every honest test result that says "spend less here" costs them money. We don't take a cut of media at all. No management fee and no CPM markup. KNVRT is one flat fee regardless of your ad budget.</a:t>
            </a:r>
            <a:endParaRPr lang="en-US" sz="1500" dirty="0"/>
          </a:p>
          <a:p>
            <a:pPr indent="0" marL="0">
              <a:lnSpc>
                <a:spcPct val="120000"/>
              </a:lnSpc>
              <a:buNone/>
            </a:pPr>
            <a:r>
              <a:rPr lang="en-US" sz="1500" dirty="0">
                <a:solidFill>
                  <a:srgbClr val="453D5C"/>
                </a:solidFill>
                <a:latin typeface="Poppins" pitchFamily="34" charset="0"/>
                <a:ea typeface="Poppins" pitchFamily="34" charset="-122"/>
                <a:cs typeface="Poppins" pitchFamily="34" charset="-120"/>
              </a:rPr>
              <a:t>That single structural difference is what makes the rest possible. It lets us scale or shift your budget toward whatever the data says is working, because we have nothing to lose when the truth points away from a certain media type or from spending more.</a:t>
            </a:r>
            <a:endParaRPr lang="en-US" sz="1500" dirty="0"/>
          </a:p>
        </p:txBody>
      </p:sp>
      <p:sp>
        <p:nvSpPr>
          <p:cNvPr id="6" name="Shape 4"/>
          <p:cNvSpPr/>
          <p:nvPr/>
        </p:nvSpPr>
        <p:spPr>
          <a:xfrm>
            <a:off x="640080" y="4937760"/>
            <a:ext cx="10881360" cy="1280160"/>
          </a:xfrm>
          <a:prstGeom prst="roundRect">
            <a:avLst>
              <a:gd name="adj" fmla="val 4286"/>
            </a:avLst>
          </a:prstGeom>
          <a:solidFill>
            <a:srgbClr val="0A0710"/>
          </a:solidFill>
          <a:ln/>
          <a:effectLst>
            <a:outerShdw sx="100000" sy="100000" kx="0" ky="0" algn="bl" rotWithShape="0" blurRad="114300" dist="38100" dir="5400000">
              <a:srgbClr val="000000">
                <a:alpha val="18000"/>
              </a:srgbClr>
            </a:outerShdw>
          </a:effectLst>
        </p:spPr>
      </p:sp>
      <p:sp>
        <p:nvSpPr>
          <p:cNvPr id="7" name="Text 5"/>
          <p:cNvSpPr/>
          <p:nvPr/>
        </p:nvSpPr>
        <p:spPr>
          <a:xfrm>
            <a:off x="1097280" y="5257800"/>
            <a:ext cx="9966960" cy="640080"/>
          </a:xfrm>
          <a:prstGeom prst="rect">
            <a:avLst/>
          </a:prstGeom>
          <a:noFill/>
          <a:ln/>
        </p:spPr>
        <p:txBody>
          <a:bodyPr wrap="square" lIns="0" tIns="0" rIns="0" bIns="0" rtlCol="0" anchor="ctr"/>
          <a:lstStyle/>
          <a:p>
            <a:pPr algn="ctr" indent="0" marL="0">
              <a:buNone/>
            </a:pPr>
            <a:r>
              <a:rPr lang="en-US" sz="2600" b="1" i="1" dirty="0">
                <a:solidFill>
                  <a:srgbClr val="FFFFFF"/>
                </a:solidFill>
                <a:latin typeface="Playfair Display" pitchFamily="34" charset="0"/>
                <a:ea typeface="Playfair Display" pitchFamily="34" charset="-122"/>
                <a:cs typeface="Playfair Display" pitchFamily="34" charset="-120"/>
              </a:rPr>
              <a:t>Our KNVRT fee is </a:t>
            </a:r>
            <a:pPr algn="ctr" indent="0" marL="0">
              <a:buNone/>
            </a:pPr>
            <a:r>
              <a:rPr lang="en-US" sz="2600" b="1" i="1" dirty="0">
                <a:solidFill>
                  <a:srgbClr val="9D8CF0"/>
                </a:solidFill>
                <a:latin typeface="Playfair Display" pitchFamily="34" charset="0"/>
                <a:ea typeface="Playfair Display" pitchFamily="34" charset="-122"/>
                <a:cs typeface="Playfair Display" pitchFamily="34" charset="-120"/>
              </a:rPr>
              <a:t>honest by construction</a:t>
            </a:r>
            <a:pPr algn="ctr" indent="0" marL="0">
              <a:buNone/>
            </a:pPr>
            <a:r>
              <a:rPr lang="en-US" sz="2600" b="1" i="1" dirty="0">
                <a:solidFill>
                  <a:srgbClr val="FFFFFF"/>
                </a:solidFill>
                <a:latin typeface="Playfair Display" pitchFamily="34" charset="0"/>
                <a:ea typeface="Playfair Display" pitchFamily="34" charset="-122"/>
                <a:cs typeface="Playfair Display" pitchFamily="34" charset="-120"/>
              </a:rPr>
              <a:t>, not by promise.</a:t>
            </a:r>
            <a:endParaRPr lang="en-US" sz="2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CF5"/>
        </a:solidFill>
      </p:bgPr>
    </p:bg>
    <p:spTree>
      <p:nvGrpSpPr>
        <p:cNvPr id="1" name=""/>
        <p:cNvGrpSpPr/>
        <p:nvPr/>
      </p:nvGrpSpPr>
      <p:grpSpPr>
        <a:xfrm>
          <a:off x="0" y="0"/>
          <a:ext cx="0" cy="0"/>
          <a:chOff x="0" y="0"/>
          <a:chExt cx="0" cy="0"/>
        </a:xfrm>
      </p:grpSpPr>
      <p:sp>
        <p:nvSpPr>
          <p:cNvPr id="2" name="Text 0"/>
          <p:cNvSpPr/>
          <p:nvPr/>
        </p:nvSpPr>
        <p:spPr>
          <a:xfrm>
            <a:off x="640080" y="548640"/>
            <a:ext cx="9144000" cy="320040"/>
          </a:xfrm>
          <a:prstGeom prst="rect">
            <a:avLst/>
          </a:prstGeom>
          <a:noFill/>
          <a:ln/>
        </p:spPr>
        <p:txBody>
          <a:bodyPr wrap="square" lIns="0" tIns="0" rIns="0" bIns="0" rtlCol="0" anchor="ctr"/>
          <a:lstStyle/>
          <a:p>
            <a:pPr indent="0" marL="0">
              <a:buNone/>
            </a:pPr>
            <a:r>
              <a:rPr lang="en-US" sz="1200" b="1" spc="400" kern="0" dirty="0">
                <a:solidFill>
                  <a:srgbClr val="6C2FE0"/>
                </a:solidFill>
                <a:latin typeface="Poppins" pitchFamily="34" charset="0"/>
                <a:ea typeface="Poppins" pitchFamily="34" charset="-122"/>
                <a:cs typeface="Poppins" pitchFamily="34" charset="-120"/>
              </a:rPr>
              <a:t>RESULTS FROM REAL DEPLOYMENTS</a:t>
            </a:r>
            <a:endParaRPr lang="en-US" sz="1200" dirty="0"/>
          </a:p>
        </p:txBody>
      </p:sp>
      <p:sp>
        <p:nvSpPr>
          <p:cNvPr id="3" name="Text 1"/>
          <p:cNvSpPr/>
          <p:nvPr/>
        </p:nvSpPr>
        <p:spPr>
          <a:xfrm>
            <a:off x="640080" y="914400"/>
            <a:ext cx="10058400" cy="731520"/>
          </a:xfrm>
          <a:prstGeom prst="rect">
            <a:avLst/>
          </a:prstGeom>
          <a:noFill/>
          <a:ln/>
        </p:spPr>
        <p:txBody>
          <a:bodyPr wrap="square" lIns="0" tIns="0" rIns="0" bIns="0" rtlCol="0" anchor="ctr"/>
          <a:lstStyle/>
          <a:p>
            <a:pPr indent="0" marL="0">
              <a:buNone/>
            </a:pPr>
            <a:r>
              <a:rPr lang="en-US" sz="3800" b="1" dirty="0">
                <a:solidFill>
                  <a:srgbClr val="16121F"/>
                </a:solidFill>
                <a:latin typeface="Playfair Display" pitchFamily="34" charset="0"/>
                <a:ea typeface="Playfair Display" pitchFamily="34" charset="-122"/>
                <a:cs typeface="Playfair Display" pitchFamily="34" charset="-120"/>
              </a:rPr>
              <a:t>Real data</a:t>
            </a:r>
            <a:pPr indent="0" marL="0">
              <a:buNone/>
            </a:pPr>
            <a:r>
              <a:rPr lang="en-US" sz="3800" b="1" dirty="0">
                <a:solidFill>
                  <a:srgbClr val="7B3BE9"/>
                </a:solidFill>
                <a:latin typeface="Playfair Display" pitchFamily="34" charset="0"/>
                <a:ea typeface="Playfair Display" pitchFamily="34" charset="-122"/>
                <a:cs typeface="Playfair Display" pitchFamily="34" charset="-120"/>
              </a:rPr>
              <a:t>. </a:t>
            </a:r>
            <a:pPr indent="0" marL="0">
              <a:buNone/>
            </a:pPr>
            <a:r>
              <a:rPr lang="en-US" sz="3800" b="1" dirty="0">
                <a:solidFill>
                  <a:srgbClr val="16121F"/>
                </a:solidFill>
                <a:latin typeface="Playfair Display" pitchFamily="34" charset="0"/>
                <a:ea typeface="Playfair Display" pitchFamily="34" charset="-122"/>
                <a:cs typeface="Playfair Display" pitchFamily="34" charset="-120"/>
              </a:rPr>
              <a:t>Real results</a:t>
            </a:r>
            <a:pPr indent="0" marL="0">
              <a:buNone/>
            </a:pPr>
            <a:r>
              <a:rPr lang="en-US" sz="3800" b="1" dirty="0">
                <a:solidFill>
                  <a:srgbClr val="7B3BE9"/>
                </a:solidFill>
                <a:latin typeface="Playfair Display" pitchFamily="34" charset="0"/>
                <a:ea typeface="Playfair Display" pitchFamily="34" charset="-122"/>
                <a:cs typeface="Playfair Display" pitchFamily="34" charset="-120"/>
              </a:rPr>
              <a:t>.</a:t>
            </a:r>
            <a:endParaRPr lang="en-US" sz="3800" dirty="0"/>
          </a:p>
        </p:txBody>
      </p:sp>
      <p:sp>
        <p:nvSpPr>
          <p:cNvPr id="4" name="Shape 2"/>
          <p:cNvSpPr/>
          <p:nvPr/>
        </p:nvSpPr>
        <p:spPr>
          <a:xfrm>
            <a:off x="640080" y="1874520"/>
            <a:ext cx="5257800" cy="4114800"/>
          </a:xfrm>
          <a:prstGeom prst="roundRect">
            <a:avLst>
              <a:gd name="adj" fmla="val 1333"/>
            </a:avLst>
          </a:prstGeom>
          <a:solidFill>
            <a:srgbClr val="FFFFFF"/>
          </a:solidFill>
          <a:ln w="12700">
            <a:solidFill>
              <a:srgbClr val="E4E0EF"/>
            </a:solidFill>
            <a:prstDash val="solid"/>
          </a:ln>
          <a:effectLst>
            <a:outerShdw sx="100000" sy="100000" kx="0" ky="0" algn="bl" rotWithShape="0" blurRad="114300" dist="38100" dir="5400000">
              <a:srgbClr val="000000">
                <a:alpha val="18000"/>
              </a:srgbClr>
            </a:outerShdw>
          </a:effectLst>
        </p:spPr>
      </p:sp>
      <p:sp>
        <p:nvSpPr>
          <p:cNvPr id="5" name="Text 3"/>
          <p:cNvSpPr/>
          <p:nvPr/>
        </p:nvSpPr>
        <p:spPr>
          <a:xfrm>
            <a:off x="960120" y="2057400"/>
            <a:ext cx="4617720" cy="274320"/>
          </a:xfrm>
          <a:prstGeom prst="rect">
            <a:avLst/>
          </a:prstGeom>
          <a:noFill/>
          <a:ln/>
        </p:spPr>
        <p:txBody>
          <a:bodyPr wrap="square" lIns="0" tIns="0" rIns="0" bIns="0" rtlCol="0" anchor="ctr"/>
          <a:lstStyle/>
          <a:p>
            <a:pPr indent="0" marL="0">
              <a:buNone/>
            </a:pPr>
            <a:r>
              <a:rPr lang="en-US" sz="1100" b="1" spc="150" kern="0" dirty="0">
                <a:solidFill>
                  <a:srgbClr val="6C2FE0"/>
                </a:solidFill>
                <a:latin typeface="Poppins" pitchFamily="34" charset="0"/>
                <a:ea typeface="Poppins" pitchFamily="34" charset="-122"/>
                <a:cs typeface="Poppins" pitchFamily="34" charset="-120"/>
              </a:rPr>
              <a:t>HOME WARRANTY PROVIDER</a:t>
            </a:r>
            <a:endParaRPr lang="en-US" sz="1100" dirty="0"/>
          </a:p>
        </p:txBody>
      </p:sp>
      <p:sp>
        <p:nvSpPr>
          <p:cNvPr id="6" name="Text 4"/>
          <p:cNvSpPr/>
          <p:nvPr/>
        </p:nvSpPr>
        <p:spPr>
          <a:xfrm>
            <a:off x="960120" y="2377440"/>
            <a:ext cx="4617720" cy="731520"/>
          </a:xfrm>
          <a:prstGeom prst="rect">
            <a:avLst/>
          </a:prstGeom>
          <a:noFill/>
          <a:ln/>
        </p:spPr>
        <p:txBody>
          <a:bodyPr wrap="square" lIns="0" tIns="0" rIns="0" bIns="0" rtlCol="0" anchor="ctr"/>
          <a:lstStyle/>
          <a:p>
            <a:pPr indent="0" marL="0">
              <a:lnSpc>
                <a:spcPct val="105000"/>
              </a:lnSpc>
              <a:buNone/>
            </a:pPr>
            <a:r>
              <a:rPr lang="en-US" sz="1250" i="1" dirty="0">
                <a:solidFill>
                  <a:srgbClr val="453D5C"/>
                </a:solidFill>
                <a:latin typeface="Poppins" pitchFamily="34" charset="0"/>
                <a:ea typeface="Poppins" pitchFamily="34" charset="-122"/>
                <a:cs typeface="Poppins" pitchFamily="34" charset="-120"/>
              </a:rPr>
              <a:t>Couldn't identify where to put budget. Performance signals were unclear. Media spend was misaligned.</a:t>
            </a:r>
            <a:endParaRPr lang="en-US" sz="1250" dirty="0"/>
          </a:p>
        </p:txBody>
      </p:sp>
      <p:sp>
        <p:nvSpPr>
          <p:cNvPr id="7" name="Shape 5"/>
          <p:cNvSpPr/>
          <p:nvPr/>
        </p:nvSpPr>
        <p:spPr>
          <a:xfrm>
            <a:off x="960120" y="3246120"/>
            <a:ext cx="4617720" cy="713232"/>
          </a:xfrm>
          <a:prstGeom prst="rect">
            <a:avLst/>
          </a:prstGeom>
          <a:solidFill>
            <a:srgbClr val="F2F0F7"/>
          </a:solidFill>
          <a:ln/>
        </p:spPr>
      </p:sp>
      <p:sp>
        <p:nvSpPr>
          <p:cNvPr id="8" name="Text 6"/>
          <p:cNvSpPr/>
          <p:nvPr/>
        </p:nvSpPr>
        <p:spPr>
          <a:xfrm>
            <a:off x="1097280" y="3319272"/>
            <a:ext cx="1920240" cy="548640"/>
          </a:xfrm>
          <a:prstGeom prst="rect">
            <a:avLst/>
          </a:prstGeom>
          <a:noFill/>
          <a:ln/>
        </p:spPr>
        <p:txBody>
          <a:bodyPr wrap="square" lIns="0" tIns="0" rIns="0" bIns="0" rtlCol="0" anchor="ctr"/>
          <a:lstStyle/>
          <a:p>
            <a:pPr indent="0" marL="0">
              <a:buNone/>
            </a:pPr>
            <a:r>
              <a:rPr lang="en-US" sz="2500" b="1" dirty="0">
                <a:solidFill>
                  <a:srgbClr val="16121F"/>
                </a:solidFill>
                <a:latin typeface="Poppins" pitchFamily="34" charset="0"/>
                <a:ea typeface="Poppins" pitchFamily="34" charset="-122"/>
                <a:cs typeface="Poppins" pitchFamily="34" charset="-120"/>
              </a:rPr>
              <a:t>120%</a:t>
            </a:r>
            <a:endParaRPr lang="en-US" sz="2500" dirty="0"/>
          </a:p>
        </p:txBody>
      </p:sp>
      <p:sp>
        <p:nvSpPr>
          <p:cNvPr id="9" name="Text 7"/>
          <p:cNvSpPr/>
          <p:nvPr/>
        </p:nvSpPr>
        <p:spPr>
          <a:xfrm>
            <a:off x="2926080" y="3246120"/>
            <a:ext cx="2606040" cy="713232"/>
          </a:xfrm>
          <a:prstGeom prst="rect">
            <a:avLst/>
          </a:prstGeom>
          <a:noFill/>
          <a:ln/>
        </p:spPr>
        <p:txBody>
          <a:bodyPr wrap="square" lIns="0" tIns="0" rIns="0" bIns="0" rtlCol="0" anchor="ctr"/>
          <a:lstStyle/>
          <a:p>
            <a:pPr indent="0" marL="0">
              <a:buNone/>
            </a:pPr>
            <a:r>
              <a:rPr lang="en-US" sz="1300" b="1" dirty="0">
                <a:solidFill>
                  <a:srgbClr val="453D5C"/>
                </a:solidFill>
                <a:latin typeface="Poppins" pitchFamily="34" charset="0"/>
                <a:ea typeface="Poppins" pitchFamily="34" charset="-122"/>
                <a:cs typeface="Poppins" pitchFamily="34" charset="-120"/>
              </a:rPr>
              <a:t>Sales Growth</a:t>
            </a:r>
            <a:endParaRPr lang="en-US" sz="1300" dirty="0"/>
          </a:p>
        </p:txBody>
      </p:sp>
      <p:sp>
        <p:nvSpPr>
          <p:cNvPr id="10" name="Shape 8"/>
          <p:cNvSpPr/>
          <p:nvPr/>
        </p:nvSpPr>
        <p:spPr>
          <a:xfrm>
            <a:off x="960120" y="4087368"/>
            <a:ext cx="4617720" cy="713232"/>
          </a:xfrm>
          <a:prstGeom prst="rect">
            <a:avLst/>
          </a:prstGeom>
          <a:solidFill>
            <a:srgbClr val="F2F0F7"/>
          </a:solidFill>
          <a:ln/>
        </p:spPr>
      </p:sp>
      <p:sp>
        <p:nvSpPr>
          <p:cNvPr id="11" name="Text 9"/>
          <p:cNvSpPr/>
          <p:nvPr/>
        </p:nvSpPr>
        <p:spPr>
          <a:xfrm>
            <a:off x="1097280" y="4160520"/>
            <a:ext cx="1920240" cy="548640"/>
          </a:xfrm>
          <a:prstGeom prst="rect">
            <a:avLst/>
          </a:prstGeom>
          <a:noFill/>
          <a:ln/>
        </p:spPr>
        <p:txBody>
          <a:bodyPr wrap="square" lIns="0" tIns="0" rIns="0" bIns="0" rtlCol="0" anchor="ctr"/>
          <a:lstStyle/>
          <a:p>
            <a:pPr indent="0" marL="0">
              <a:buNone/>
            </a:pPr>
            <a:r>
              <a:rPr lang="en-US" sz="2500" b="1" dirty="0">
                <a:solidFill>
                  <a:srgbClr val="16121F"/>
                </a:solidFill>
                <a:latin typeface="Poppins" pitchFamily="34" charset="0"/>
                <a:ea typeface="Poppins" pitchFamily="34" charset="-122"/>
                <a:cs typeface="Poppins" pitchFamily="34" charset="-120"/>
              </a:rPr>
              <a:t>$500K+</a:t>
            </a:r>
            <a:endParaRPr lang="en-US" sz="2500" dirty="0"/>
          </a:p>
        </p:txBody>
      </p:sp>
      <p:sp>
        <p:nvSpPr>
          <p:cNvPr id="12" name="Text 10"/>
          <p:cNvSpPr/>
          <p:nvPr/>
        </p:nvSpPr>
        <p:spPr>
          <a:xfrm>
            <a:off x="2926080" y="4087368"/>
            <a:ext cx="2606040" cy="713232"/>
          </a:xfrm>
          <a:prstGeom prst="rect">
            <a:avLst/>
          </a:prstGeom>
          <a:noFill/>
          <a:ln/>
        </p:spPr>
        <p:txBody>
          <a:bodyPr wrap="square" lIns="0" tIns="0" rIns="0" bIns="0" rtlCol="0" anchor="ctr"/>
          <a:lstStyle/>
          <a:p>
            <a:pPr indent="0" marL="0">
              <a:buNone/>
            </a:pPr>
            <a:r>
              <a:rPr lang="en-US" sz="1300" b="1" dirty="0">
                <a:solidFill>
                  <a:srgbClr val="453D5C"/>
                </a:solidFill>
                <a:latin typeface="Poppins" pitchFamily="34" charset="0"/>
                <a:ea typeface="Poppins" pitchFamily="34" charset="-122"/>
                <a:cs typeface="Poppins" pitchFamily="34" charset="-120"/>
              </a:rPr>
              <a:t>New Monthly Revenue</a:t>
            </a:r>
            <a:endParaRPr lang="en-US" sz="1300" dirty="0"/>
          </a:p>
        </p:txBody>
      </p:sp>
      <p:sp>
        <p:nvSpPr>
          <p:cNvPr id="13" name="Shape 11"/>
          <p:cNvSpPr/>
          <p:nvPr/>
        </p:nvSpPr>
        <p:spPr>
          <a:xfrm>
            <a:off x="960120" y="4928616"/>
            <a:ext cx="4617720" cy="713232"/>
          </a:xfrm>
          <a:prstGeom prst="rect">
            <a:avLst/>
          </a:prstGeom>
          <a:solidFill>
            <a:srgbClr val="F2F0F7"/>
          </a:solidFill>
          <a:ln/>
        </p:spPr>
      </p:sp>
      <p:sp>
        <p:nvSpPr>
          <p:cNvPr id="14" name="Text 12"/>
          <p:cNvSpPr/>
          <p:nvPr/>
        </p:nvSpPr>
        <p:spPr>
          <a:xfrm>
            <a:off x="1097280" y="5001768"/>
            <a:ext cx="1920240" cy="548640"/>
          </a:xfrm>
          <a:prstGeom prst="rect">
            <a:avLst/>
          </a:prstGeom>
          <a:noFill/>
          <a:ln/>
        </p:spPr>
        <p:txBody>
          <a:bodyPr wrap="square" lIns="0" tIns="0" rIns="0" bIns="0" rtlCol="0" anchor="ctr"/>
          <a:lstStyle/>
          <a:p>
            <a:pPr indent="0" marL="0">
              <a:buNone/>
            </a:pPr>
            <a:r>
              <a:rPr lang="en-US" sz="2500" b="1" dirty="0">
                <a:solidFill>
                  <a:srgbClr val="16121F"/>
                </a:solidFill>
                <a:latin typeface="Poppins" pitchFamily="34" charset="0"/>
                <a:ea typeface="Poppins" pitchFamily="34" charset="-122"/>
                <a:cs typeface="Poppins" pitchFamily="34" charset="-120"/>
              </a:rPr>
              <a:t>84%</a:t>
            </a:r>
            <a:endParaRPr lang="en-US" sz="2500" dirty="0"/>
          </a:p>
        </p:txBody>
      </p:sp>
      <p:sp>
        <p:nvSpPr>
          <p:cNvPr id="15" name="Text 13"/>
          <p:cNvSpPr/>
          <p:nvPr/>
        </p:nvSpPr>
        <p:spPr>
          <a:xfrm>
            <a:off x="2926080" y="4928616"/>
            <a:ext cx="2606040" cy="713232"/>
          </a:xfrm>
          <a:prstGeom prst="rect">
            <a:avLst/>
          </a:prstGeom>
          <a:noFill/>
          <a:ln/>
        </p:spPr>
        <p:txBody>
          <a:bodyPr wrap="square" lIns="0" tIns="0" rIns="0" bIns="0" rtlCol="0" anchor="ctr"/>
          <a:lstStyle/>
          <a:p>
            <a:pPr indent="0" marL="0">
              <a:buNone/>
            </a:pPr>
            <a:r>
              <a:rPr lang="en-US" sz="1300" b="1" dirty="0">
                <a:solidFill>
                  <a:srgbClr val="453D5C"/>
                </a:solidFill>
                <a:latin typeface="Poppins" pitchFamily="34" charset="0"/>
                <a:ea typeface="Poppins" pitchFamily="34" charset="-122"/>
                <a:cs typeface="Poppins" pitchFamily="34" charset="-120"/>
              </a:rPr>
              <a:t>Increase in Ad Efficiency</a:t>
            </a:r>
            <a:endParaRPr lang="en-US" sz="1300" dirty="0"/>
          </a:p>
        </p:txBody>
      </p:sp>
      <p:sp>
        <p:nvSpPr>
          <p:cNvPr id="16" name="Text 14"/>
          <p:cNvSpPr/>
          <p:nvPr/>
        </p:nvSpPr>
        <p:spPr>
          <a:xfrm>
            <a:off x="960120" y="5623560"/>
            <a:ext cx="4617720" cy="320040"/>
          </a:xfrm>
          <a:prstGeom prst="rect">
            <a:avLst/>
          </a:prstGeom>
          <a:noFill/>
          <a:ln/>
        </p:spPr>
        <p:txBody>
          <a:bodyPr wrap="square" lIns="0" tIns="0" rIns="0" bIns="0" rtlCol="0" anchor="ctr"/>
          <a:lstStyle/>
          <a:p>
            <a:pPr indent="0" marL="0">
              <a:buNone/>
            </a:pPr>
            <a:r>
              <a:rPr lang="en-US" sz="1050" i="1" dirty="0">
                <a:solidFill>
                  <a:srgbClr val="453D5C"/>
                </a:solidFill>
                <a:latin typeface="Poppins" pitchFamily="34" charset="0"/>
                <a:ea typeface="Poppins" pitchFamily="34" charset="-122"/>
                <a:cs typeface="Poppins" pitchFamily="34" charset="-120"/>
              </a:rPr>
              <a:t>*Client investment recovered within the first month. Still active.</a:t>
            </a:r>
            <a:endParaRPr lang="en-US" sz="1050" dirty="0"/>
          </a:p>
        </p:txBody>
      </p:sp>
      <p:sp>
        <p:nvSpPr>
          <p:cNvPr id="17" name="Shape 15"/>
          <p:cNvSpPr/>
          <p:nvPr/>
        </p:nvSpPr>
        <p:spPr>
          <a:xfrm>
            <a:off x="6172200" y="1874520"/>
            <a:ext cx="5257800" cy="4114800"/>
          </a:xfrm>
          <a:prstGeom prst="roundRect">
            <a:avLst>
              <a:gd name="adj" fmla="val 1333"/>
            </a:avLst>
          </a:prstGeom>
          <a:solidFill>
            <a:srgbClr val="FFFFFF"/>
          </a:solidFill>
          <a:ln w="12700">
            <a:solidFill>
              <a:srgbClr val="E4E0EF"/>
            </a:solidFill>
            <a:prstDash val="solid"/>
          </a:ln>
          <a:effectLst>
            <a:outerShdw sx="100000" sy="100000" kx="0" ky="0" algn="bl" rotWithShape="0" blurRad="114300" dist="38100" dir="5400000">
              <a:srgbClr val="000000">
                <a:alpha val="18000"/>
              </a:srgbClr>
            </a:outerShdw>
          </a:effectLst>
        </p:spPr>
      </p:sp>
      <p:sp>
        <p:nvSpPr>
          <p:cNvPr id="18" name="Text 16"/>
          <p:cNvSpPr/>
          <p:nvPr/>
        </p:nvSpPr>
        <p:spPr>
          <a:xfrm>
            <a:off x="6492240" y="2057400"/>
            <a:ext cx="4617720" cy="274320"/>
          </a:xfrm>
          <a:prstGeom prst="rect">
            <a:avLst/>
          </a:prstGeom>
          <a:noFill/>
          <a:ln/>
        </p:spPr>
        <p:txBody>
          <a:bodyPr wrap="square" lIns="0" tIns="0" rIns="0" bIns="0" rtlCol="0" anchor="ctr"/>
          <a:lstStyle/>
          <a:p>
            <a:pPr indent="0" marL="0">
              <a:buNone/>
            </a:pPr>
            <a:r>
              <a:rPr lang="en-US" sz="1100" b="1" spc="150" kern="0" dirty="0">
                <a:solidFill>
                  <a:srgbClr val="6C2FE0"/>
                </a:solidFill>
                <a:latin typeface="Poppins" pitchFamily="34" charset="0"/>
                <a:ea typeface="Poppins" pitchFamily="34" charset="-122"/>
                <a:cs typeface="Poppins" pitchFamily="34" charset="-120"/>
              </a:rPr>
              <a:t>NUTRACEUTICAL BRAND</a:t>
            </a:r>
            <a:endParaRPr lang="en-US" sz="1100" dirty="0"/>
          </a:p>
        </p:txBody>
      </p:sp>
      <p:sp>
        <p:nvSpPr>
          <p:cNvPr id="19" name="Text 17"/>
          <p:cNvSpPr/>
          <p:nvPr/>
        </p:nvSpPr>
        <p:spPr>
          <a:xfrm>
            <a:off x="6492240" y="2377440"/>
            <a:ext cx="4617720" cy="731520"/>
          </a:xfrm>
          <a:prstGeom prst="rect">
            <a:avLst/>
          </a:prstGeom>
          <a:noFill/>
          <a:ln/>
        </p:spPr>
        <p:txBody>
          <a:bodyPr wrap="square" lIns="0" tIns="0" rIns="0" bIns="0" rtlCol="0" anchor="ctr"/>
          <a:lstStyle/>
          <a:p>
            <a:pPr indent="0" marL="0">
              <a:lnSpc>
                <a:spcPct val="105000"/>
              </a:lnSpc>
              <a:buNone/>
            </a:pPr>
            <a:r>
              <a:rPr lang="en-US" sz="1250" i="1" dirty="0">
                <a:solidFill>
                  <a:srgbClr val="453D5C"/>
                </a:solidFill>
                <a:latin typeface="Poppins" pitchFamily="34" charset="0"/>
                <a:ea typeface="Poppins" pitchFamily="34" charset="-122"/>
                <a:cs typeface="Poppins" pitchFamily="34" charset="-120"/>
              </a:rPr>
              <a:t>Drowning in data across Amazon, Shopify, multiple ad platforms. Teams reported for hours. Growth stalled.</a:t>
            </a:r>
            <a:endParaRPr lang="en-US" sz="1250" dirty="0"/>
          </a:p>
        </p:txBody>
      </p:sp>
      <p:sp>
        <p:nvSpPr>
          <p:cNvPr id="20" name="Shape 18"/>
          <p:cNvSpPr/>
          <p:nvPr/>
        </p:nvSpPr>
        <p:spPr>
          <a:xfrm>
            <a:off x="6492240" y="3246120"/>
            <a:ext cx="4617720" cy="713232"/>
          </a:xfrm>
          <a:prstGeom prst="rect">
            <a:avLst/>
          </a:prstGeom>
          <a:solidFill>
            <a:srgbClr val="F2F0F7"/>
          </a:solidFill>
          <a:ln/>
        </p:spPr>
      </p:sp>
      <p:sp>
        <p:nvSpPr>
          <p:cNvPr id="21" name="Text 19"/>
          <p:cNvSpPr/>
          <p:nvPr/>
        </p:nvSpPr>
        <p:spPr>
          <a:xfrm>
            <a:off x="6629400" y="3319272"/>
            <a:ext cx="1920240" cy="548640"/>
          </a:xfrm>
          <a:prstGeom prst="rect">
            <a:avLst/>
          </a:prstGeom>
          <a:noFill/>
          <a:ln/>
        </p:spPr>
        <p:txBody>
          <a:bodyPr wrap="square" lIns="0" tIns="0" rIns="0" bIns="0" rtlCol="0" anchor="ctr"/>
          <a:lstStyle/>
          <a:p>
            <a:pPr indent="0" marL="0">
              <a:buNone/>
            </a:pPr>
            <a:r>
              <a:rPr lang="en-US" sz="2500" b="1" dirty="0">
                <a:solidFill>
                  <a:srgbClr val="16121F"/>
                </a:solidFill>
                <a:latin typeface="Poppins" pitchFamily="34" charset="0"/>
                <a:ea typeface="Poppins" pitchFamily="34" charset="-122"/>
                <a:cs typeface="Poppins" pitchFamily="34" charset="-120"/>
              </a:rPr>
              <a:t>32%</a:t>
            </a:r>
            <a:endParaRPr lang="en-US" sz="2500" dirty="0"/>
          </a:p>
        </p:txBody>
      </p:sp>
      <p:sp>
        <p:nvSpPr>
          <p:cNvPr id="22" name="Text 20"/>
          <p:cNvSpPr/>
          <p:nvPr/>
        </p:nvSpPr>
        <p:spPr>
          <a:xfrm>
            <a:off x="8458200" y="3246120"/>
            <a:ext cx="2606040" cy="713232"/>
          </a:xfrm>
          <a:prstGeom prst="rect">
            <a:avLst/>
          </a:prstGeom>
          <a:noFill/>
          <a:ln/>
        </p:spPr>
        <p:txBody>
          <a:bodyPr wrap="square" lIns="0" tIns="0" rIns="0" bIns="0" rtlCol="0" anchor="ctr"/>
          <a:lstStyle/>
          <a:p>
            <a:pPr indent="0" marL="0">
              <a:buNone/>
            </a:pPr>
            <a:r>
              <a:rPr lang="en-US" sz="1300" b="1" dirty="0">
                <a:solidFill>
                  <a:srgbClr val="453D5C"/>
                </a:solidFill>
                <a:latin typeface="Poppins" pitchFamily="34" charset="0"/>
                <a:ea typeface="Poppins" pitchFamily="34" charset="-122"/>
                <a:cs typeface="Poppins" pitchFamily="34" charset="-120"/>
              </a:rPr>
              <a:t>Sales Growth</a:t>
            </a:r>
            <a:endParaRPr lang="en-US" sz="1300" dirty="0"/>
          </a:p>
        </p:txBody>
      </p:sp>
      <p:sp>
        <p:nvSpPr>
          <p:cNvPr id="23" name="Shape 21"/>
          <p:cNvSpPr/>
          <p:nvPr/>
        </p:nvSpPr>
        <p:spPr>
          <a:xfrm>
            <a:off x="6492240" y="4087368"/>
            <a:ext cx="4617720" cy="713232"/>
          </a:xfrm>
          <a:prstGeom prst="rect">
            <a:avLst/>
          </a:prstGeom>
          <a:solidFill>
            <a:srgbClr val="F2F0F7"/>
          </a:solidFill>
          <a:ln/>
        </p:spPr>
      </p:sp>
      <p:sp>
        <p:nvSpPr>
          <p:cNvPr id="24" name="Text 22"/>
          <p:cNvSpPr/>
          <p:nvPr/>
        </p:nvSpPr>
        <p:spPr>
          <a:xfrm>
            <a:off x="6629400" y="4160520"/>
            <a:ext cx="1920240" cy="548640"/>
          </a:xfrm>
          <a:prstGeom prst="rect">
            <a:avLst/>
          </a:prstGeom>
          <a:noFill/>
          <a:ln/>
        </p:spPr>
        <p:txBody>
          <a:bodyPr wrap="square" lIns="0" tIns="0" rIns="0" bIns="0" rtlCol="0" anchor="ctr"/>
          <a:lstStyle/>
          <a:p>
            <a:pPr indent="0" marL="0">
              <a:buNone/>
            </a:pPr>
            <a:r>
              <a:rPr lang="en-US" sz="2500" b="1" dirty="0">
                <a:solidFill>
                  <a:srgbClr val="16121F"/>
                </a:solidFill>
                <a:latin typeface="Poppins" pitchFamily="34" charset="0"/>
                <a:ea typeface="Poppins" pitchFamily="34" charset="-122"/>
                <a:cs typeface="Poppins" pitchFamily="34" charset="-120"/>
              </a:rPr>
              <a:t>340%</a:t>
            </a:r>
            <a:endParaRPr lang="en-US" sz="2500" dirty="0"/>
          </a:p>
        </p:txBody>
      </p:sp>
      <p:sp>
        <p:nvSpPr>
          <p:cNvPr id="25" name="Text 23"/>
          <p:cNvSpPr/>
          <p:nvPr/>
        </p:nvSpPr>
        <p:spPr>
          <a:xfrm>
            <a:off x="8458200" y="4087368"/>
            <a:ext cx="2606040" cy="713232"/>
          </a:xfrm>
          <a:prstGeom prst="rect">
            <a:avLst/>
          </a:prstGeom>
          <a:noFill/>
          <a:ln/>
        </p:spPr>
        <p:txBody>
          <a:bodyPr wrap="square" lIns="0" tIns="0" rIns="0" bIns="0" rtlCol="0" anchor="ctr"/>
          <a:lstStyle/>
          <a:p>
            <a:pPr indent="0" marL="0">
              <a:buNone/>
            </a:pPr>
            <a:r>
              <a:rPr lang="en-US" sz="1300" b="1" dirty="0">
                <a:solidFill>
                  <a:srgbClr val="453D5C"/>
                </a:solidFill>
                <a:latin typeface="Poppins" pitchFamily="34" charset="0"/>
                <a:ea typeface="Poppins" pitchFamily="34" charset="-122"/>
                <a:cs typeface="Poppins" pitchFamily="34" charset="-120"/>
              </a:rPr>
              <a:t>Return on Q1 Ad Spend</a:t>
            </a:r>
            <a:endParaRPr lang="en-US" sz="1300" dirty="0"/>
          </a:p>
        </p:txBody>
      </p:sp>
      <p:sp>
        <p:nvSpPr>
          <p:cNvPr id="26" name="Shape 24"/>
          <p:cNvSpPr/>
          <p:nvPr/>
        </p:nvSpPr>
        <p:spPr>
          <a:xfrm>
            <a:off x="6492240" y="4928616"/>
            <a:ext cx="4617720" cy="713232"/>
          </a:xfrm>
          <a:prstGeom prst="rect">
            <a:avLst/>
          </a:prstGeom>
          <a:solidFill>
            <a:srgbClr val="F2F0F7"/>
          </a:solidFill>
          <a:ln/>
        </p:spPr>
      </p:sp>
      <p:sp>
        <p:nvSpPr>
          <p:cNvPr id="27" name="Text 25"/>
          <p:cNvSpPr/>
          <p:nvPr/>
        </p:nvSpPr>
        <p:spPr>
          <a:xfrm>
            <a:off x="6629400" y="5001768"/>
            <a:ext cx="1920240" cy="548640"/>
          </a:xfrm>
          <a:prstGeom prst="rect">
            <a:avLst/>
          </a:prstGeom>
          <a:noFill/>
          <a:ln/>
        </p:spPr>
        <p:txBody>
          <a:bodyPr wrap="square" lIns="0" tIns="0" rIns="0" bIns="0" rtlCol="0" anchor="ctr"/>
          <a:lstStyle/>
          <a:p>
            <a:pPr indent="0" marL="0">
              <a:buNone/>
            </a:pPr>
            <a:r>
              <a:rPr lang="en-US" sz="2500" b="1" dirty="0">
                <a:solidFill>
                  <a:srgbClr val="16121F"/>
                </a:solidFill>
                <a:latin typeface="Poppins" pitchFamily="34" charset="0"/>
                <a:ea typeface="Poppins" pitchFamily="34" charset="-122"/>
                <a:cs typeface="Poppins" pitchFamily="34" charset="-120"/>
              </a:rPr>
              <a:t>92%</a:t>
            </a:r>
            <a:endParaRPr lang="en-US" sz="2500" dirty="0"/>
          </a:p>
        </p:txBody>
      </p:sp>
      <p:sp>
        <p:nvSpPr>
          <p:cNvPr id="28" name="Text 26"/>
          <p:cNvSpPr/>
          <p:nvPr/>
        </p:nvSpPr>
        <p:spPr>
          <a:xfrm>
            <a:off x="8458200" y="4928616"/>
            <a:ext cx="2606040" cy="713232"/>
          </a:xfrm>
          <a:prstGeom prst="rect">
            <a:avLst/>
          </a:prstGeom>
          <a:noFill/>
          <a:ln/>
        </p:spPr>
        <p:txBody>
          <a:bodyPr wrap="square" lIns="0" tIns="0" rIns="0" bIns="0" rtlCol="0" anchor="ctr"/>
          <a:lstStyle/>
          <a:p>
            <a:pPr indent="0" marL="0">
              <a:buNone/>
            </a:pPr>
            <a:r>
              <a:rPr lang="en-US" sz="1300" b="1" dirty="0">
                <a:solidFill>
                  <a:srgbClr val="453D5C"/>
                </a:solidFill>
                <a:latin typeface="Poppins" pitchFamily="34" charset="0"/>
                <a:ea typeface="Poppins" pitchFamily="34" charset="-122"/>
                <a:cs typeface="Poppins" pitchFamily="34" charset="-120"/>
              </a:rPr>
              <a:t>Less Time on Reporting</a:t>
            </a:r>
            <a:endParaRPr lang="en-US" sz="1300" dirty="0"/>
          </a:p>
        </p:txBody>
      </p:sp>
      <p:sp>
        <p:nvSpPr>
          <p:cNvPr id="29" name="Text 27"/>
          <p:cNvSpPr/>
          <p:nvPr/>
        </p:nvSpPr>
        <p:spPr>
          <a:xfrm>
            <a:off x="6492240" y="5623560"/>
            <a:ext cx="4617720" cy="320040"/>
          </a:xfrm>
          <a:prstGeom prst="rect">
            <a:avLst/>
          </a:prstGeom>
          <a:noFill/>
          <a:ln/>
        </p:spPr>
        <p:txBody>
          <a:bodyPr wrap="square" lIns="0" tIns="0" rIns="0" bIns="0" rtlCol="0" anchor="ctr"/>
          <a:lstStyle/>
          <a:p>
            <a:pPr indent="0" marL="0">
              <a:buNone/>
            </a:pPr>
            <a:r>
              <a:rPr lang="en-US" sz="1050" i="1" dirty="0">
                <a:solidFill>
                  <a:srgbClr val="453D5C"/>
                </a:solidFill>
                <a:latin typeface="Poppins" pitchFamily="34" charset="0"/>
                <a:ea typeface="Poppins" pitchFamily="34" charset="-122"/>
                <a:cs typeface="Poppins" pitchFamily="34" charset="-120"/>
              </a:rPr>
              <a:t>*Client investment recovered within three months of deployment.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710"/>
        </a:solidFill>
      </p:bgPr>
    </p:bg>
    <p:spTree>
      <p:nvGrpSpPr>
        <p:cNvPr id="1" name=""/>
        <p:cNvGrpSpPr/>
        <p:nvPr/>
      </p:nvGrpSpPr>
      <p:grpSpPr>
        <a:xfrm>
          <a:off x="0" y="0"/>
          <a:ext cx="0" cy="0"/>
          <a:chOff x="0" y="0"/>
          <a:chExt cx="0" cy="0"/>
        </a:xfrm>
      </p:grpSpPr>
      <p:sp>
        <p:nvSpPr>
          <p:cNvPr id="2" name="Text 0"/>
          <p:cNvSpPr/>
          <p:nvPr/>
        </p:nvSpPr>
        <p:spPr>
          <a:xfrm>
            <a:off x="640080" y="640080"/>
            <a:ext cx="9144000" cy="320040"/>
          </a:xfrm>
          <a:prstGeom prst="rect">
            <a:avLst/>
          </a:prstGeom>
          <a:noFill/>
          <a:ln/>
        </p:spPr>
        <p:txBody>
          <a:bodyPr wrap="square" lIns="0" tIns="0" rIns="0" bIns="0" rtlCol="0" anchor="ctr"/>
          <a:lstStyle/>
          <a:p>
            <a:pPr indent="0" marL="0">
              <a:buNone/>
            </a:pPr>
            <a:r>
              <a:rPr lang="en-US" sz="1200" b="1" spc="400" kern="0" dirty="0">
                <a:solidFill>
                  <a:srgbClr val="9D8CF0"/>
                </a:solidFill>
                <a:latin typeface="Poppins" pitchFamily="34" charset="0"/>
                <a:ea typeface="Poppins" pitchFamily="34" charset="-122"/>
                <a:cs typeface="Poppins" pitchFamily="34" charset="-120"/>
              </a:rPr>
              <a:t>CLIENTS SERVED</a:t>
            </a:r>
            <a:endParaRPr lang="en-US" sz="1200" dirty="0"/>
          </a:p>
        </p:txBody>
      </p:sp>
      <p:sp>
        <p:nvSpPr>
          <p:cNvPr id="3" name="Text 1"/>
          <p:cNvSpPr/>
          <p:nvPr/>
        </p:nvSpPr>
        <p:spPr>
          <a:xfrm>
            <a:off x="640080" y="1005840"/>
            <a:ext cx="10058400" cy="548640"/>
          </a:xfrm>
          <a:prstGeom prst="rect">
            <a:avLst/>
          </a:prstGeom>
          <a:noFill/>
          <a:ln/>
        </p:spPr>
        <p:txBody>
          <a:bodyPr wrap="square" lIns="0" tIns="0" rIns="0" bIns="0" rtlCol="0" anchor="ctr"/>
          <a:lstStyle/>
          <a:p>
            <a:pPr indent="0" marL="0">
              <a:buNone/>
            </a:pPr>
            <a:r>
              <a:rPr lang="en-US" sz="2600" i="1" dirty="0">
                <a:solidFill>
                  <a:srgbClr val="FFFFFF"/>
                </a:solidFill>
                <a:latin typeface="Playfair Display" pitchFamily="34" charset="0"/>
                <a:ea typeface="Playfair Display" pitchFamily="34" charset="-122"/>
                <a:cs typeface="Playfair Display" pitchFamily="34" charset="-120"/>
              </a:rPr>
              <a:t>Trusted with media for the brands people know.</a:t>
            </a:r>
            <a:endParaRPr lang="en-US" sz="2600" dirty="0"/>
          </a:p>
        </p:txBody>
      </p:sp>
      <p:pic>
        <p:nvPicPr>
          <p:cNvPr id="4" name="Image 0" descr="C:/Users/13025/AppData/Local/Temp/claude/C--Users-13025-OneDrive-Desktop-Claude-Code/6df39e99-516b-46de-9b62-34ab7512c5e8/scratchpad/deck_assets/p04_Image99.png">    </p:cNvPr>
          <p:cNvPicPr>
            <a:picLocks noChangeAspect="1"/>
          </p:cNvPicPr>
          <p:nvPr/>
        </p:nvPicPr>
        <p:blipFill>
          <a:blip r:embed="rId1"/>
          <a:stretch>
            <a:fillRect/>
          </a:stretch>
        </p:blipFill>
        <p:spPr>
          <a:xfrm>
            <a:off x="1600200" y="2690731"/>
            <a:ext cx="1737360" cy="653578"/>
          </a:xfrm>
          <a:prstGeom prst="rect">
            <a:avLst/>
          </a:prstGeom>
        </p:spPr>
      </p:pic>
      <p:pic>
        <p:nvPicPr>
          <p:cNvPr id="5" name="Image 1" descr="C:/Users/13025/AppData/Local/Temp/claude/C--Users-13025-OneDrive-Desktop-Claude-Code/6df39e99-516b-46de-9b62-34ab7512c5e8/scratchpad/deck_assets/p04_Image101.png">    </p:cNvPr>
          <p:cNvPicPr>
            <a:picLocks noChangeAspect="1"/>
          </p:cNvPicPr>
          <p:nvPr/>
        </p:nvPicPr>
        <p:blipFill>
          <a:blip r:embed="rId2"/>
          <a:stretch>
            <a:fillRect/>
          </a:stretch>
        </p:blipFill>
        <p:spPr>
          <a:xfrm>
            <a:off x="4389120" y="2771550"/>
            <a:ext cx="1737360" cy="491941"/>
          </a:xfrm>
          <a:prstGeom prst="rect">
            <a:avLst/>
          </a:prstGeom>
        </p:spPr>
      </p:pic>
      <p:pic>
        <p:nvPicPr>
          <p:cNvPr id="6" name="Image 2" descr="C:/Users/13025/AppData/Local/Temp/claude/C--Users-13025-OneDrive-Desktop-Claude-Code/6df39e99-516b-46de-9b62-34ab7512c5e8/scratchpad/deck_assets/p04_Image107.png">    </p:cNvPr>
          <p:cNvPicPr>
            <a:picLocks noChangeAspect="1"/>
          </p:cNvPicPr>
          <p:nvPr/>
        </p:nvPicPr>
        <p:blipFill>
          <a:blip r:embed="rId3"/>
          <a:stretch>
            <a:fillRect/>
          </a:stretch>
        </p:blipFill>
        <p:spPr>
          <a:xfrm>
            <a:off x="7178040" y="2788768"/>
            <a:ext cx="1737360" cy="457505"/>
          </a:xfrm>
          <a:prstGeom prst="rect">
            <a:avLst/>
          </a:prstGeom>
        </p:spPr>
      </p:pic>
      <p:pic>
        <p:nvPicPr>
          <p:cNvPr id="7" name="Image 3" descr="C:/Users/13025/AppData/Local/Temp/claude/C--Users-13025-OneDrive-Desktop-Claude-Code/6df39e99-516b-46de-9b62-34ab7512c5e8/scratchpad/deck_assets/p04_Image109.png">    </p:cNvPr>
          <p:cNvPicPr>
            <a:picLocks noChangeAspect="1"/>
          </p:cNvPicPr>
          <p:nvPr/>
        </p:nvPicPr>
        <p:blipFill>
          <a:blip r:embed="rId4"/>
          <a:stretch>
            <a:fillRect/>
          </a:stretch>
        </p:blipFill>
        <p:spPr>
          <a:xfrm>
            <a:off x="9966960" y="2721265"/>
            <a:ext cx="1737360" cy="592510"/>
          </a:xfrm>
          <a:prstGeom prst="rect">
            <a:avLst/>
          </a:prstGeom>
        </p:spPr>
      </p:pic>
      <p:pic>
        <p:nvPicPr>
          <p:cNvPr id="8" name="Image 4" descr="C:/Users/13025/AppData/Local/Temp/claude/C--Users-13025-OneDrive-Desktop-Claude-Code/6df39e99-516b-46de-9b62-34ab7512c5e8/scratchpad/deck_assets/p04_Image105.png">    </p:cNvPr>
          <p:cNvPicPr>
            <a:picLocks noChangeAspect="1"/>
          </p:cNvPicPr>
          <p:nvPr/>
        </p:nvPicPr>
        <p:blipFill>
          <a:blip r:embed="rId5"/>
          <a:stretch>
            <a:fillRect/>
          </a:stretch>
        </p:blipFill>
        <p:spPr>
          <a:xfrm>
            <a:off x="1600200" y="4624230"/>
            <a:ext cx="1737360" cy="444179"/>
          </a:xfrm>
          <a:prstGeom prst="rect">
            <a:avLst/>
          </a:prstGeom>
        </p:spPr>
      </p:pic>
      <p:pic>
        <p:nvPicPr>
          <p:cNvPr id="9" name="Image 5" descr="C:/Users/13025/AppData/Local/Temp/claude/C--Users-13025-OneDrive-Desktop-Claude-Code/6df39e99-516b-46de-9b62-34ab7512c5e8/scratchpad/deck_assets/p04_Image103.png">    </p:cNvPr>
          <p:cNvPicPr>
            <a:picLocks noChangeAspect="1"/>
          </p:cNvPicPr>
          <p:nvPr/>
        </p:nvPicPr>
        <p:blipFill>
          <a:blip r:embed="rId6"/>
          <a:stretch>
            <a:fillRect/>
          </a:stretch>
        </p:blipFill>
        <p:spPr>
          <a:xfrm>
            <a:off x="4389120" y="4684649"/>
            <a:ext cx="1737360" cy="323342"/>
          </a:xfrm>
          <a:prstGeom prst="rect">
            <a:avLst/>
          </a:prstGeom>
        </p:spPr>
      </p:pic>
      <p:pic>
        <p:nvPicPr>
          <p:cNvPr id="10" name="Image 6" descr="C:/Users/13025/AppData/Local/Temp/claude/C--Users-13025-OneDrive-Desktop-Claude-Code/6df39e99-516b-46de-9b62-34ab7512c5e8/scratchpad/deck_assets/p04_Image113.png">    </p:cNvPr>
          <p:cNvPicPr>
            <a:picLocks noChangeAspect="1"/>
          </p:cNvPicPr>
          <p:nvPr/>
        </p:nvPicPr>
        <p:blipFill>
          <a:blip r:embed="rId7"/>
          <a:stretch>
            <a:fillRect/>
          </a:stretch>
        </p:blipFill>
        <p:spPr>
          <a:xfrm>
            <a:off x="7178040" y="4722223"/>
            <a:ext cx="1737360" cy="248194"/>
          </a:xfrm>
          <a:prstGeom prst="rect">
            <a:avLst/>
          </a:prstGeom>
        </p:spPr>
      </p:pic>
      <p:pic>
        <p:nvPicPr>
          <p:cNvPr id="11" name="Image 7" descr="C:/Users/13025/AppData/Local/Temp/claude/C--Users-13025-OneDrive-Desktop-Claude-Code/6df39e99-516b-46de-9b62-34ab7512c5e8/scratchpad/deck_assets/p04_Image111.png">    </p:cNvPr>
          <p:cNvPicPr>
            <a:picLocks noChangeAspect="1"/>
          </p:cNvPicPr>
          <p:nvPr/>
        </p:nvPicPr>
        <p:blipFill>
          <a:blip r:embed="rId8"/>
          <a:stretch>
            <a:fillRect/>
          </a:stretch>
        </p:blipFill>
        <p:spPr>
          <a:xfrm>
            <a:off x="9966960" y="4619328"/>
            <a:ext cx="1737360" cy="4539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710"/>
        </a:solidFill>
      </p:bgPr>
    </p:bg>
    <p:spTree>
      <p:nvGrpSpPr>
        <p:cNvPr id="1" name=""/>
        <p:cNvGrpSpPr/>
        <p:nvPr/>
      </p:nvGrpSpPr>
      <p:grpSpPr>
        <a:xfrm>
          <a:off x="0" y="0"/>
          <a:ext cx="0" cy="0"/>
          <a:chOff x="0" y="0"/>
          <a:chExt cx="0" cy="0"/>
        </a:xfrm>
      </p:grpSpPr>
      <p:sp>
        <p:nvSpPr>
          <p:cNvPr id="2" name="Shape 0"/>
          <p:cNvSpPr/>
          <p:nvPr/>
        </p:nvSpPr>
        <p:spPr>
          <a:xfrm>
            <a:off x="3017520" y="-1828800"/>
            <a:ext cx="6126480" cy="4023360"/>
          </a:xfrm>
          <a:prstGeom prst="ellipse">
            <a:avLst/>
          </a:prstGeom>
          <a:solidFill>
            <a:srgbClr val="7B3BE9">
              <a:alpha val="14000"/>
            </a:srgbClr>
          </a:solidFill>
          <a:ln/>
        </p:spPr>
      </p:sp>
      <p:sp>
        <p:nvSpPr>
          <p:cNvPr id="3" name="Text 1"/>
          <p:cNvSpPr/>
          <p:nvPr/>
        </p:nvSpPr>
        <p:spPr>
          <a:xfrm>
            <a:off x="914400" y="1463040"/>
            <a:ext cx="10332720" cy="822960"/>
          </a:xfrm>
          <a:prstGeom prst="rect">
            <a:avLst/>
          </a:prstGeom>
          <a:noFill/>
          <a:ln/>
        </p:spPr>
        <p:txBody>
          <a:bodyPr wrap="square" lIns="0" tIns="0" rIns="0" bIns="0" rtlCol="0" anchor="ctr"/>
          <a:lstStyle/>
          <a:p>
            <a:pPr algn="ctr" indent="0" marL="0">
              <a:buNone/>
            </a:pPr>
            <a:r>
              <a:rPr lang="en-US" sz="4200" b="1" dirty="0">
                <a:solidFill>
                  <a:srgbClr val="FFFFFF"/>
                </a:solidFill>
                <a:latin typeface="Playfair Display" pitchFamily="34" charset="0"/>
                <a:ea typeface="Playfair Display" pitchFamily="34" charset="-122"/>
                <a:cs typeface="Playfair Display" pitchFamily="34" charset="-120"/>
              </a:rPr>
              <a:t>Stop guessing</a:t>
            </a:r>
            <a:pPr algn="ctr" indent="0" marL="0">
              <a:buNone/>
            </a:pPr>
            <a:r>
              <a:rPr lang="en-US" sz="4200" b="1" dirty="0">
                <a:solidFill>
                  <a:srgbClr val="9D8CF0"/>
                </a:solidFill>
                <a:latin typeface="Playfair Display" pitchFamily="34" charset="0"/>
                <a:ea typeface="Playfair Display" pitchFamily="34" charset="-122"/>
                <a:cs typeface="Playfair Display" pitchFamily="34" charset="-120"/>
              </a:rPr>
              <a:t>. </a:t>
            </a:r>
            <a:pPr algn="ctr" indent="0" marL="0">
              <a:buNone/>
            </a:pPr>
            <a:r>
              <a:rPr lang="en-US" sz="4200" b="1" dirty="0">
                <a:solidFill>
                  <a:srgbClr val="FFFFFF"/>
                </a:solidFill>
                <a:latin typeface="Playfair Display" pitchFamily="34" charset="0"/>
                <a:ea typeface="Playfair Display" pitchFamily="34" charset="-122"/>
                <a:cs typeface="Playfair Display" pitchFamily="34" charset="-120"/>
              </a:rPr>
              <a:t>Start scaling</a:t>
            </a:r>
            <a:pPr algn="ctr" indent="0" marL="0">
              <a:buNone/>
            </a:pPr>
            <a:r>
              <a:rPr lang="en-US" sz="4200" b="1" dirty="0">
                <a:solidFill>
                  <a:srgbClr val="9D8CF0"/>
                </a:solidFill>
                <a:latin typeface="Playfair Display" pitchFamily="34" charset="0"/>
                <a:ea typeface="Playfair Display" pitchFamily="34" charset="-122"/>
                <a:cs typeface="Playfair Display" pitchFamily="34" charset="-120"/>
              </a:rPr>
              <a:t>.</a:t>
            </a:r>
            <a:endParaRPr lang="en-US" sz="4200" dirty="0"/>
          </a:p>
        </p:txBody>
      </p:sp>
      <p:sp>
        <p:nvSpPr>
          <p:cNvPr id="4" name="Text 2"/>
          <p:cNvSpPr/>
          <p:nvPr/>
        </p:nvSpPr>
        <p:spPr>
          <a:xfrm>
            <a:off x="914400" y="2651760"/>
            <a:ext cx="10332720" cy="1280160"/>
          </a:xfrm>
          <a:prstGeom prst="rect">
            <a:avLst/>
          </a:prstGeom>
          <a:noFill/>
          <a:ln/>
        </p:spPr>
        <p:txBody>
          <a:bodyPr wrap="square" lIns="0" tIns="0" rIns="0" bIns="0" rtlCol="0" anchor="ctr"/>
          <a:lstStyle/>
          <a:p>
            <a:pPr algn="ctr" indent="0" marL="0">
              <a:lnSpc>
                <a:spcPct val="130000"/>
              </a:lnSpc>
              <a:buNone/>
            </a:pPr>
            <a:r>
              <a:rPr lang="en-US" sz="1600" dirty="0">
                <a:solidFill>
                  <a:srgbClr val="CFC4F0"/>
                </a:solidFill>
                <a:latin typeface="Poppins" pitchFamily="34" charset="0"/>
                <a:ea typeface="Poppins" pitchFamily="34" charset="-122"/>
                <a:cs typeface="Poppins" pitchFamily="34" charset="-120"/>
              </a:rPr>
              <a:t>You show us what you spend and where.</a:t>
            </a:r>
            <a:endParaRPr lang="en-US" sz="1600" dirty="0"/>
          </a:p>
          <a:p>
            <a:pPr algn="ctr" indent="0" marL="0">
              <a:lnSpc>
                <a:spcPct val="130000"/>
              </a:lnSpc>
              <a:buNone/>
            </a:pPr>
            <a:r>
              <a:rPr lang="en-US" sz="1600" dirty="0">
                <a:solidFill>
                  <a:srgbClr val="CFC4F0"/>
                </a:solidFill>
                <a:latin typeface="Poppins" pitchFamily="34" charset="0"/>
                <a:ea typeface="Poppins" pitchFamily="34" charset="-122"/>
                <a:cs typeface="Poppins" pitchFamily="34" charset="-120"/>
              </a:rPr>
              <a:t>We show you what's working, what's bleeding, and what we'd scale first.</a:t>
            </a:r>
            <a:endParaRPr lang="en-US" sz="1600" dirty="0"/>
          </a:p>
          <a:p>
            <a:pPr algn="ctr" indent="0" marL="0">
              <a:lnSpc>
                <a:spcPct val="130000"/>
              </a:lnSpc>
              <a:buNone/>
            </a:pPr>
            <a:r>
              <a:rPr lang="en-US" sz="1600" dirty="0">
                <a:solidFill>
                  <a:srgbClr val="FFFFFF"/>
                </a:solidFill>
                <a:latin typeface="Poppins" pitchFamily="34" charset="0"/>
                <a:ea typeface="Poppins" pitchFamily="34" charset="-122"/>
                <a:cs typeface="Poppins" pitchFamily="34" charset="-120"/>
              </a:rPr>
              <a:t>You leave with your flat KNVRT fee. No obligation.</a:t>
            </a:r>
            <a:endParaRPr lang="en-US" sz="1600" dirty="0"/>
          </a:p>
        </p:txBody>
      </p:sp>
      <p:sp>
        <p:nvSpPr>
          <p:cNvPr id="5" name="Text 3"/>
          <p:cNvSpPr/>
          <p:nvPr/>
        </p:nvSpPr>
        <p:spPr>
          <a:xfrm>
            <a:off x="914400" y="3977640"/>
            <a:ext cx="10332720" cy="457200"/>
          </a:xfrm>
          <a:prstGeom prst="rect">
            <a:avLst/>
          </a:prstGeom>
          <a:noFill/>
          <a:ln/>
        </p:spPr>
        <p:txBody>
          <a:bodyPr wrap="square" lIns="0" tIns="0" rIns="0" bIns="0" rtlCol="0" anchor="ctr"/>
          <a:lstStyle/>
          <a:p>
            <a:pPr algn="ctr" indent="0" marL="0">
              <a:buNone/>
            </a:pPr>
            <a:r>
              <a:rPr lang="en-US" sz="1700" b="1" i="1" dirty="0">
                <a:solidFill>
                  <a:srgbClr val="9D8CF0"/>
                </a:solidFill>
                <a:latin typeface="Playfair Display" pitchFamily="34" charset="0"/>
                <a:ea typeface="Playfair Display" pitchFamily="34" charset="-122"/>
                <a:cs typeface="Playfair Display" pitchFamily="34" charset="-120"/>
              </a:rPr>
              <a:t>Worst case, you walk away knowing exactly what your media should cost.</a:t>
            </a:r>
            <a:endParaRPr lang="en-US" sz="1700" dirty="0"/>
          </a:p>
        </p:txBody>
      </p:sp>
      <p:sp>
        <p:nvSpPr>
          <p:cNvPr id="6" name="Shape 4"/>
          <p:cNvSpPr/>
          <p:nvPr/>
        </p:nvSpPr>
        <p:spPr>
          <a:xfrm>
            <a:off x="4480560" y="4754880"/>
            <a:ext cx="3200400" cy="658368"/>
          </a:xfrm>
          <a:prstGeom prst="roundRect">
            <a:avLst>
              <a:gd name="adj" fmla="val 50000"/>
            </a:avLst>
          </a:prstGeom>
          <a:solidFill>
            <a:srgbClr val="7B3BE9"/>
          </a:solidFill>
          <a:ln/>
          <a:effectLst>
            <a:outerShdw sx="100000" sy="100000" kx="0" ky="0" algn="bl" rotWithShape="0" blurRad="114300" dist="38100" dir="5400000">
              <a:srgbClr val="000000">
                <a:alpha val="18000"/>
              </a:srgbClr>
            </a:outerShdw>
          </a:effectLst>
        </p:spPr>
      </p:sp>
      <p:sp>
        <p:nvSpPr>
          <p:cNvPr id="7" name="Text 5"/>
          <p:cNvSpPr/>
          <p:nvPr/>
        </p:nvSpPr>
        <p:spPr>
          <a:xfrm>
            <a:off x="4480560" y="4754880"/>
            <a:ext cx="320040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Get Your Media Clarity Audit</a:t>
            </a:r>
            <a:endParaRPr lang="en-US" sz="1500" dirty="0"/>
          </a:p>
        </p:txBody>
      </p:sp>
      <p:sp>
        <p:nvSpPr>
          <p:cNvPr id="8" name="Text 6"/>
          <p:cNvSpPr/>
          <p:nvPr/>
        </p:nvSpPr>
        <p:spPr>
          <a:xfrm>
            <a:off x="914400" y="5623560"/>
            <a:ext cx="10332720" cy="365760"/>
          </a:xfrm>
          <a:prstGeom prst="rect">
            <a:avLst/>
          </a:prstGeom>
          <a:noFill/>
          <a:ln/>
        </p:spPr>
        <p:txBody>
          <a:bodyPr wrap="square" lIns="0" tIns="0" rIns="0" bIns="0" rtlCol="0" anchor="ctr"/>
          <a:lstStyle/>
          <a:p>
            <a:pPr algn="ctr" indent="0" marL="0">
              <a:buNone/>
            </a:pPr>
            <a:r>
              <a:rPr lang="en-US" sz="1200" dirty="0">
                <a:solidFill>
                  <a:srgbClr val="A89BD4"/>
                </a:solidFill>
                <a:latin typeface="Poppins" pitchFamily="34" charset="0"/>
                <a:ea typeface="Poppins" pitchFamily="34" charset="-122"/>
                <a:cs typeface="Poppins" pitchFamily="34" charset="-120"/>
              </a:rPr>
              <a:t>calendly.com/kevin-teeven/30min   |   kevin@distriktww.com</a:t>
            </a:r>
            <a:endParaRPr lang="en-US" sz="1200" dirty="0"/>
          </a:p>
        </p:txBody>
      </p:sp>
      <p:pic>
        <p:nvPicPr>
          <p:cNvPr id="9" name="Image 0" descr="C:/Users/13025/AppData/Local/Temp/claude/C--Users-13025-OneDrive-Desktop-Claude-Code/6df39e99-516b-46de-9b62-34ab7512c5e8/scratchpad/deck_assets/p01_Image8.png">    </p:cNvPr>
          <p:cNvPicPr>
            <a:picLocks noChangeAspect="1"/>
          </p:cNvPicPr>
          <p:nvPr/>
        </p:nvPicPr>
        <p:blipFill>
          <a:blip r:embed="rId1"/>
          <a:srcRect l="0" r="0" t="0" b="0"/>
          <a:stretch/>
        </p:blipFill>
        <p:spPr>
          <a:xfrm>
            <a:off x="5257800" y="6172200"/>
            <a:ext cx="1645920" cy="2926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DISTRIKT Paid Media</dc:title>
  <dc:subject>PptxGenJS Presentation</dc:subject>
  <dc:creator>DISTRIKT</dc:creator>
  <cp:lastModifiedBy>DISTRIKT</cp:lastModifiedBy>
  <cp:revision>1</cp:revision>
  <dcterms:created xsi:type="dcterms:W3CDTF">2026-07-10T04:10:17Z</dcterms:created>
  <dcterms:modified xsi:type="dcterms:W3CDTF">2026-07-10T04:10:17Z</dcterms:modified>
</cp:coreProperties>
</file>